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2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194560"/>
            <a:ext cx="5943600" cy="594360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3" name="Shape 1"/>
          <p:cNvSpPr/>
          <p:nvPr/>
        </p:nvSpPr>
        <p:spPr>
          <a:xfrm>
            <a:off x="9354312" y="4114800"/>
            <a:ext cx="4937760" cy="493776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-1005840"/>
            <a:ext cx="2377440" cy="237744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658368"/>
            <a:ext cx="1005840" cy="100584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</p:sp>
      <p:sp>
        <p:nvSpPr>
          <p:cNvPr id="7" name="Shape 5"/>
          <p:cNvSpPr/>
          <p:nvPr/>
        </p:nvSpPr>
        <p:spPr>
          <a:xfrm>
            <a:off x="1057275" y="1192721"/>
            <a:ext cx="86439" cy="188595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8" name="Shape 6"/>
          <p:cNvSpPr/>
          <p:nvPr/>
        </p:nvSpPr>
        <p:spPr>
          <a:xfrm>
            <a:off x="1198721" y="1066991"/>
            <a:ext cx="86439" cy="314325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340168" y="941260"/>
            <a:ext cx="86439" cy="440055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481614" y="815531"/>
            <a:ext cx="86439" cy="565785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874520"/>
            <a:ext cx="9144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SOFTWARE REQUIREMENTS SPECIFICATION  |  PHASE 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212848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</a:t>
            </a:r>
            <a:endParaRPr lang="en-US" sz="6000" dirty="0"/>
          </a:p>
        </p:txBody>
      </p:sp>
      <p:sp>
        <p:nvSpPr>
          <p:cNvPr id="13" name="Shape 11"/>
          <p:cNvSpPr/>
          <p:nvPr/>
        </p:nvSpPr>
        <p:spPr>
          <a:xfrm>
            <a:off x="868680" y="3291840"/>
            <a:ext cx="1463040" cy="7315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5204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E6E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a business description to a ready lead, in one guided workflow.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68680" y="4754880"/>
            <a:ext cx="54864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73659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TEAM MEMBERS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992624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Majid Farooq Qureshi   FA23-BCS-045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Habib Ur Rehman   FA23-BCS-116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0" y="4754880"/>
            <a:ext cx="54864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473659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SUPERVISOR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4992624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Ms. Saadia Maqbool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09560" y="4754880"/>
            <a:ext cx="54864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8092440" y="473659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PROGRAMME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92440" y="4992624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BS Computer Science (2023-2027)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COMSATS University Islamabad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 Statement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64208"/>
            <a:ext cx="5468112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64208"/>
            <a:ext cx="82296" cy="16916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95528" y="1883664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795528" y="18836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71600" y="1883664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95528" y="2441448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Meta campaign needs an objective, audience, compliant copy, placement media, budget and monitoring.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90488" y="1664208"/>
            <a:ext cx="5468112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90488" y="1664208"/>
            <a:ext cx="82296" cy="16916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3096" y="1883664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EA580C"/>
          </a:solidFill>
          <a:ln/>
        </p:spPr>
      </p:sp>
      <p:sp>
        <p:nvSpPr>
          <p:cNvPr id="26" name="Text 24"/>
          <p:cNvSpPr/>
          <p:nvPr/>
        </p:nvSpPr>
        <p:spPr>
          <a:xfrm>
            <a:off x="6483096" y="18836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59168" y="1883664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Impact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83096" y="2441448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Owners overspend on boosted posts, pay agencies or get ads rejected. Leads wait hours for a WhatsApp reply.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02920" y="3538728"/>
            <a:ext cx="5468112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3538728"/>
            <a:ext cx="82296" cy="16916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1" name="Shape 29"/>
          <p:cNvSpPr/>
          <p:nvPr/>
        </p:nvSpPr>
        <p:spPr>
          <a:xfrm>
            <a:off x="795528" y="3758184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</p:sp>
      <p:sp>
        <p:nvSpPr>
          <p:cNvPr id="32" name="Text 30"/>
          <p:cNvSpPr/>
          <p:nvPr/>
        </p:nvSpPr>
        <p:spPr>
          <a:xfrm>
            <a:off x="795528" y="37581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71600" y="3758184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Target Users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95528" y="4315968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Small and medium business owners in any industry, with no marketing training or agency.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90488" y="3538728"/>
            <a:ext cx="5468112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90488" y="3538728"/>
            <a:ext cx="82296" cy="16916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7" name="Shape 35"/>
          <p:cNvSpPr/>
          <p:nvPr/>
        </p:nvSpPr>
        <p:spPr>
          <a:xfrm>
            <a:off x="6483096" y="3758184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EA580C"/>
          </a:solidFill>
          <a:ln/>
        </p:spPr>
      </p:sp>
      <p:sp>
        <p:nvSpPr>
          <p:cNvPr id="38" name="Text 36"/>
          <p:cNvSpPr/>
          <p:nvPr/>
        </p:nvSpPr>
        <p:spPr>
          <a:xfrm>
            <a:off x="6483096" y="37581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59168" y="3758184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Importance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483096" y="4315968"/>
            <a:ext cx="4983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SMBs depend on social ads, but disconnected tools hide whether campaigns deliver and leads get answered.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02920" y="5486400"/>
            <a:ext cx="11155680" cy="82296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49808" y="5504688"/>
            <a:ext cx="106984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341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Core gap: no single, understandable workflow links campaign creation, policy awareness, lead capture and timely follow-up.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Proposed Solution &amp; Effectiveness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45920"/>
            <a:ext cx="1737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45920"/>
            <a:ext cx="173736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1143000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23957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Onboard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2761488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Reusable business profile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86584" y="1645920"/>
            <a:ext cx="1737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386584" y="1645920"/>
            <a:ext cx="173736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5" name="Shape 23"/>
          <p:cNvSpPr/>
          <p:nvPr/>
        </p:nvSpPr>
        <p:spPr>
          <a:xfrm>
            <a:off x="3026664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/>
        </p:spPr>
      </p:sp>
      <p:sp>
        <p:nvSpPr>
          <p:cNvPr id="26" name="Text 24"/>
          <p:cNvSpPr/>
          <p:nvPr/>
        </p:nvSpPr>
        <p:spPr>
          <a:xfrm>
            <a:off x="3026664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432304" y="23957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Generate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478024" y="2761488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copy + media via RAG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70248" y="1645920"/>
            <a:ext cx="1737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270248" y="1645920"/>
            <a:ext cx="173736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1" name="Shape 29"/>
          <p:cNvSpPr/>
          <p:nvPr/>
        </p:nvSpPr>
        <p:spPr>
          <a:xfrm>
            <a:off x="4910328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</p:sp>
      <p:sp>
        <p:nvSpPr>
          <p:cNvPr id="32" name="Text 30"/>
          <p:cNvSpPr/>
          <p:nvPr/>
        </p:nvSpPr>
        <p:spPr>
          <a:xfrm>
            <a:off x="4910328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315968" y="23957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Check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361688" y="2761488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Bradley Filter policy check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53912" y="1645920"/>
            <a:ext cx="1737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53912" y="1645920"/>
            <a:ext cx="173736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7" name="Shape 35"/>
          <p:cNvSpPr/>
          <p:nvPr/>
        </p:nvSpPr>
        <p:spPr>
          <a:xfrm>
            <a:off x="6793992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/>
        </p:spPr>
      </p:sp>
      <p:sp>
        <p:nvSpPr>
          <p:cNvPr id="38" name="Text 36"/>
          <p:cNvSpPr/>
          <p:nvPr/>
        </p:nvSpPr>
        <p:spPr>
          <a:xfrm>
            <a:off x="6793992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04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199632" y="23957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245352" y="2761488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Owner confirms, Meta API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037576" y="1645920"/>
            <a:ext cx="1737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037576" y="1645920"/>
            <a:ext cx="173736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3" name="Shape 41"/>
          <p:cNvSpPr/>
          <p:nvPr/>
        </p:nvSpPr>
        <p:spPr>
          <a:xfrm>
            <a:off x="8677656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</p:sp>
      <p:sp>
        <p:nvSpPr>
          <p:cNvPr id="44" name="Text 42"/>
          <p:cNvSpPr/>
          <p:nvPr/>
        </p:nvSpPr>
        <p:spPr>
          <a:xfrm>
            <a:off x="8677656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05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083296" y="23957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Capture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129016" y="2761488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Leads synced and encrypted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921240" y="1645920"/>
            <a:ext cx="1737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921240" y="1645920"/>
            <a:ext cx="173736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9" name="Shape 47"/>
          <p:cNvSpPr/>
          <p:nvPr/>
        </p:nvSpPr>
        <p:spPr>
          <a:xfrm>
            <a:off x="10561320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/>
        </p:spPr>
      </p:sp>
      <p:sp>
        <p:nvSpPr>
          <p:cNvPr id="50" name="Text 48"/>
          <p:cNvSpPr/>
          <p:nvPr/>
        </p:nvSpPr>
        <p:spPr>
          <a:xfrm>
            <a:off x="1056132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06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966960" y="23957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Nurture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012680" y="2761488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WhatsApp + takeover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 rot="5400000">
            <a:off x="2249424" y="2423160"/>
            <a:ext cx="128016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54" name="Shape 52"/>
          <p:cNvSpPr/>
          <p:nvPr/>
        </p:nvSpPr>
        <p:spPr>
          <a:xfrm rot="5400000">
            <a:off x="4133088" y="2423160"/>
            <a:ext cx="128016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55" name="Shape 53"/>
          <p:cNvSpPr/>
          <p:nvPr/>
        </p:nvSpPr>
        <p:spPr>
          <a:xfrm rot="5400000">
            <a:off x="6016752" y="2423160"/>
            <a:ext cx="128016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56" name="Shape 54"/>
          <p:cNvSpPr/>
          <p:nvPr/>
        </p:nvSpPr>
        <p:spPr>
          <a:xfrm rot="5400000">
            <a:off x="7900416" y="2423160"/>
            <a:ext cx="128016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57" name="Shape 55"/>
          <p:cNvSpPr/>
          <p:nvPr/>
        </p:nvSpPr>
        <p:spPr>
          <a:xfrm rot="5400000">
            <a:off x="9784080" y="2423160"/>
            <a:ext cx="128016" cy="128016"/>
          </a:xfrm>
          <a:prstGeom prst="triangle">
            <a:avLst/>
          </a:prstGeom>
          <a:solidFill>
            <a:srgbClr val="B7C9C6"/>
          </a:solidFill>
          <a:ln/>
        </p:spPr>
      </p:sp>
      <p:sp>
        <p:nvSpPr>
          <p:cNvPr id="58" name="Text 56"/>
          <p:cNvSpPr/>
          <p:nvPr/>
        </p:nvSpPr>
        <p:spPr>
          <a:xfrm>
            <a:off x="502920" y="354787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Expected benefits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502920" y="4023360"/>
            <a:ext cx="2633472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22376" y="4169664"/>
            <a:ext cx="224028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expertise needed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722376" y="475488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of 5 first-time users reach a reviewable ad within 15 minutes.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722376" y="5833872"/>
            <a:ext cx="1463040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63" name="Text 61"/>
          <p:cNvSpPr/>
          <p:nvPr/>
        </p:nvSpPr>
        <p:spPr>
          <a:xfrm>
            <a:off x="722376" y="5833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NFR-USE-001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3319272" y="4023360"/>
            <a:ext cx="2633472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3538728" y="4169664"/>
            <a:ext cx="224028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Fewer rejections</a:t>
            </a:r>
            <a:endParaRPr lang="en-US" sz="1450" dirty="0"/>
          </a:p>
        </p:txBody>
      </p:sp>
      <p:sp>
        <p:nvSpPr>
          <p:cNvPr id="66" name="Text 64"/>
          <p:cNvSpPr/>
          <p:nvPr/>
        </p:nvSpPr>
        <p:spPr>
          <a:xfrm>
            <a:off x="3538728" y="475488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Policy risks flagged before submission; Meta still decides.</a:t>
            </a:r>
            <a:endParaRPr lang="en-US" sz="1250" dirty="0"/>
          </a:p>
        </p:txBody>
      </p:sp>
      <p:sp>
        <p:nvSpPr>
          <p:cNvPr id="67" name="Shape 65"/>
          <p:cNvSpPr/>
          <p:nvPr/>
        </p:nvSpPr>
        <p:spPr>
          <a:xfrm>
            <a:off x="3538728" y="5833872"/>
            <a:ext cx="1463040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68" name="Text 66"/>
          <p:cNvSpPr/>
          <p:nvPr/>
        </p:nvSpPr>
        <p:spPr>
          <a:xfrm>
            <a:off x="3538728" y="5833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FR-015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6135624" y="4023360"/>
            <a:ext cx="2633472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6355080" y="4169664"/>
            <a:ext cx="224028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Faster lead response</a:t>
            </a:r>
            <a:endParaRPr lang="en-US" sz="1450" dirty="0"/>
          </a:p>
        </p:txBody>
      </p:sp>
      <p:sp>
        <p:nvSpPr>
          <p:cNvPr id="71" name="Text 69"/>
          <p:cNvSpPr/>
          <p:nvPr/>
        </p:nvSpPr>
        <p:spPr>
          <a:xfrm>
            <a:off x="6355080" y="475488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replies within 60 s; owner alerted at intent score 70.</a:t>
            </a:r>
            <a:endParaRPr lang="en-US" sz="1250" dirty="0"/>
          </a:p>
        </p:txBody>
      </p:sp>
      <p:sp>
        <p:nvSpPr>
          <p:cNvPr id="72" name="Shape 70"/>
          <p:cNvSpPr/>
          <p:nvPr/>
        </p:nvSpPr>
        <p:spPr>
          <a:xfrm>
            <a:off x="6355080" y="5833872"/>
            <a:ext cx="1463040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73" name="Text 71"/>
          <p:cNvSpPr/>
          <p:nvPr/>
        </p:nvSpPr>
        <p:spPr>
          <a:xfrm>
            <a:off x="6355080" y="5833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NFR-PER-006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8951976" y="4023360"/>
            <a:ext cx="2633472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9171432" y="4169664"/>
            <a:ext cx="224028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protected workspace</a:t>
            </a:r>
            <a:endParaRPr lang="en-US" sz="1450" dirty="0"/>
          </a:p>
        </p:txBody>
      </p:sp>
      <p:sp>
        <p:nvSpPr>
          <p:cNvPr id="76" name="Text 74"/>
          <p:cNvSpPr/>
          <p:nvPr/>
        </p:nvSpPr>
        <p:spPr>
          <a:xfrm>
            <a:off x="9171432" y="475488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Tenant-isolated data under one AUD Stripe subscription.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9171432" y="5833872"/>
            <a:ext cx="1463040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78" name="Text 76"/>
          <p:cNvSpPr/>
          <p:nvPr/>
        </p:nvSpPr>
        <p:spPr>
          <a:xfrm>
            <a:off x="9171432" y="5833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FR-080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Scope Evaluation Feedback &amp; Improvements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03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11155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709160"/>
                <a:gridCol w="4709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Evaluation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Committee feedback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Action taken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FYP-0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Spring 2026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Accepted with minor revisions. Expand beyond campaign generation to a complete AI workflow.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A5C56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End-to-end flow: generate, evaluate, learn, recommend, deploy, observe, optimise.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FYP-0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Spring 2026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Incorporate human oversight throughout the AI pipeline.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A5C56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Owner review and approval checkpoints before deployment and optimisation.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FYP-1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Fall 2026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Define AI evaluation, personalisation and optimisation beyond basic API calls.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A5C56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Measurable checks, history-based recommendations and performance-driven tuning.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50292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Resulting changes in the SRS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02920" y="5029200"/>
            <a:ext cx="36118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0936" y="5157216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1" name="Text 18"/>
          <p:cNvSpPr/>
          <p:nvPr/>
        </p:nvSpPr>
        <p:spPr>
          <a:xfrm>
            <a:off x="630936" y="5157216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FR-011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618488" y="5029200"/>
            <a:ext cx="2450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Readability + policy scores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279392" y="5029200"/>
            <a:ext cx="36118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407408" y="5157216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25" name="Text 22"/>
          <p:cNvSpPr/>
          <p:nvPr/>
        </p:nvSpPr>
        <p:spPr>
          <a:xfrm>
            <a:off x="4407408" y="5157216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FR-014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394960" y="5029200"/>
            <a:ext cx="2450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 on versioned dataset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055864" y="5029200"/>
            <a:ext cx="36118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83880" y="5157216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9" name="Text 26"/>
          <p:cNvSpPr/>
          <p:nvPr/>
        </p:nvSpPr>
        <p:spPr>
          <a:xfrm>
            <a:off x="8183880" y="5157216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FR-028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9171432" y="5029200"/>
            <a:ext cx="2450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Owner confirms every deploy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02920" y="5687568"/>
            <a:ext cx="36118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30936" y="581558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33" name="Text 30"/>
          <p:cNvSpPr/>
          <p:nvPr/>
        </p:nvSpPr>
        <p:spPr>
          <a:xfrm>
            <a:off x="630936" y="581558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FR-016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1618488" y="5687568"/>
            <a:ext cx="2450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Advisory recommendations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4279392" y="5687568"/>
            <a:ext cx="36118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4407408" y="581558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7" name="Text 34"/>
          <p:cNvSpPr/>
          <p:nvPr/>
        </p:nvSpPr>
        <p:spPr>
          <a:xfrm>
            <a:off x="4407408" y="581558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FR-085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394960" y="5687568"/>
            <a:ext cx="2450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Intent score, ready at 70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055864" y="5687568"/>
            <a:ext cx="36118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8183880" y="581558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41" name="Text 38"/>
          <p:cNvSpPr/>
          <p:nvPr/>
        </p:nvSpPr>
        <p:spPr>
          <a:xfrm>
            <a:off x="8183880" y="581558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FR-052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9171432" y="5687568"/>
            <a:ext cx="2450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Manual WhatsApp takeover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Key Modules &amp; Features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09344"/>
            <a:ext cx="5468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09344"/>
            <a:ext cx="73152" cy="74980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" y="1691640"/>
            <a:ext cx="640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9DD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01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25880" y="1673352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Onboarding &amp; Brand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325880" y="1993392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Wizard, tone, industry, resume, AI tips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27448" y="1837944"/>
            <a:ext cx="1133856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3" name="Text 21"/>
          <p:cNvSpPr/>
          <p:nvPr/>
        </p:nvSpPr>
        <p:spPr>
          <a:xfrm>
            <a:off x="4727448" y="1837944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90488" y="1609344"/>
            <a:ext cx="5468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90488" y="1609344"/>
            <a:ext cx="73152" cy="7498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6" name="Text 24"/>
          <p:cNvSpPr/>
          <p:nvPr/>
        </p:nvSpPr>
        <p:spPr>
          <a:xfrm>
            <a:off x="6318504" y="1691640"/>
            <a:ext cx="640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DBA7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02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013448" y="1673352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Ad &amp; Content Generation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013448" y="1993392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Copy variations, templates, RAG, policy check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415016" y="1837944"/>
            <a:ext cx="1133856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15016" y="1837944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BO-2  BO-8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2450592"/>
            <a:ext cx="5468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02920" y="2450592"/>
            <a:ext cx="73152" cy="7498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" y="2532888"/>
            <a:ext cx="640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DBA7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1325880" y="251460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Media Editing &amp; Creative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325880" y="2834640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Upload, resize, brand, captions, snippets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27448" y="2679192"/>
            <a:ext cx="1133856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7" name="Text 35"/>
          <p:cNvSpPr/>
          <p:nvPr/>
        </p:nvSpPr>
        <p:spPr>
          <a:xfrm>
            <a:off x="4727448" y="2679192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90488" y="2450592"/>
            <a:ext cx="5468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190488" y="2450592"/>
            <a:ext cx="73152" cy="74980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0" name="Text 38"/>
          <p:cNvSpPr/>
          <p:nvPr/>
        </p:nvSpPr>
        <p:spPr>
          <a:xfrm>
            <a:off x="6318504" y="2532888"/>
            <a:ext cx="640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9DD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04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7013448" y="251460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Campaign Automation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7013448" y="2834640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OAuth, 6 objectives, targeting, sync, control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415016" y="2679192"/>
            <a:ext cx="1133856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44" name="Text 42"/>
          <p:cNvSpPr/>
          <p:nvPr/>
        </p:nvSpPr>
        <p:spPr>
          <a:xfrm>
            <a:off x="10415016" y="2679192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BO-3  BO-6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3291840"/>
            <a:ext cx="5468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02920" y="3291840"/>
            <a:ext cx="73152" cy="74980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7" name="Text 45"/>
          <p:cNvSpPr/>
          <p:nvPr/>
        </p:nvSpPr>
        <p:spPr>
          <a:xfrm>
            <a:off x="630936" y="3374136"/>
            <a:ext cx="640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9DD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05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1325880" y="3355848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Lead Management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1325880" y="3675888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Lead-form sync, encryption, filters, analytics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27448" y="3520440"/>
            <a:ext cx="1133856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51" name="Text 49"/>
          <p:cNvSpPr/>
          <p:nvPr/>
        </p:nvSpPr>
        <p:spPr>
          <a:xfrm>
            <a:off x="4727448" y="3520440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BO-4  BO-6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190488" y="3291840"/>
            <a:ext cx="5468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190488" y="3291840"/>
            <a:ext cx="73152" cy="7498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4" name="Text 52"/>
          <p:cNvSpPr/>
          <p:nvPr/>
        </p:nvSpPr>
        <p:spPr>
          <a:xfrm>
            <a:off x="6318504" y="3374136"/>
            <a:ext cx="640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DBA7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06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7013448" y="3355848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WhatsApp Lead Nurturing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7013448" y="3675888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Replies, follow-ups, intent score, takeover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0415016" y="3520440"/>
            <a:ext cx="1133856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58" name="Text 56"/>
          <p:cNvSpPr/>
          <p:nvPr/>
        </p:nvSpPr>
        <p:spPr>
          <a:xfrm>
            <a:off x="10415016" y="3520440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BO-9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02920" y="4133088"/>
            <a:ext cx="5468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502920" y="4133088"/>
            <a:ext cx="73152" cy="7498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61" name="Text 59"/>
          <p:cNvSpPr/>
          <p:nvPr/>
        </p:nvSpPr>
        <p:spPr>
          <a:xfrm>
            <a:off x="630936" y="4215384"/>
            <a:ext cx="640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DBA7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07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1325880" y="4197096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Subscription &amp; Billing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1325880" y="4517136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Stripe Checkout, 14-day trial, AUD plans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727448" y="4361688"/>
            <a:ext cx="1133856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65" name="Text 63"/>
          <p:cNvSpPr/>
          <p:nvPr/>
        </p:nvSpPr>
        <p:spPr>
          <a:xfrm>
            <a:off x="4727448" y="436168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BO-5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190488" y="4133088"/>
            <a:ext cx="5468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190488" y="4133088"/>
            <a:ext cx="73152" cy="74980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68" name="Text 66"/>
          <p:cNvSpPr/>
          <p:nvPr/>
        </p:nvSpPr>
        <p:spPr>
          <a:xfrm>
            <a:off x="6318504" y="4215384"/>
            <a:ext cx="640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9DD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08</a:t>
            </a:r>
            <a:endParaRPr lang="en-US" sz="2000" dirty="0"/>
          </a:p>
        </p:txBody>
      </p:sp>
      <p:sp>
        <p:nvSpPr>
          <p:cNvPr id="69" name="Text 67"/>
          <p:cNvSpPr/>
          <p:nvPr/>
        </p:nvSpPr>
        <p:spPr>
          <a:xfrm>
            <a:off x="7013448" y="4197096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Admin Dashboard &amp; Operations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7013448" y="4517136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Users, AI usage, Meta health, jobs, dataset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0415016" y="4361688"/>
            <a:ext cx="1133856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72" name="Text 70"/>
          <p:cNvSpPr/>
          <p:nvPr/>
        </p:nvSpPr>
        <p:spPr>
          <a:xfrm>
            <a:off x="10415016" y="436168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BO-7  BO-8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02920" y="4974336"/>
            <a:ext cx="5468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502920" y="4974336"/>
            <a:ext cx="73152" cy="74980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5" name="Text 73"/>
          <p:cNvSpPr/>
          <p:nvPr/>
        </p:nvSpPr>
        <p:spPr>
          <a:xfrm>
            <a:off x="630936" y="5056632"/>
            <a:ext cx="640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9DD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09</a:t>
            </a:r>
            <a:endParaRPr lang="en-US" sz="2000" dirty="0"/>
          </a:p>
        </p:txBody>
      </p:sp>
      <p:sp>
        <p:nvSpPr>
          <p:cNvPr id="76" name="Text 74"/>
          <p:cNvSpPr/>
          <p:nvPr/>
        </p:nvSpPr>
        <p:spPr>
          <a:xfrm>
            <a:off x="1325880" y="503834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Marketing Website</a:t>
            </a:r>
            <a:endParaRPr lang="en-US" sz="1350" dirty="0"/>
          </a:p>
        </p:txBody>
      </p:sp>
      <p:sp>
        <p:nvSpPr>
          <p:cNvPr id="77" name="Text 75"/>
          <p:cNvSpPr/>
          <p:nvPr/>
        </p:nvSpPr>
        <p:spPr>
          <a:xfrm>
            <a:off x="1325880" y="5358384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Landing, pricing, diagnostic, enquiries, blog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4727448" y="5202936"/>
            <a:ext cx="1133856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79" name="Text 77"/>
          <p:cNvSpPr/>
          <p:nvPr/>
        </p:nvSpPr>
        <p:spPr>
          <a:xfrm>
            <a:off x="4727448" y="5202936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Acquisition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6190488" y="4974336"/>
            <a:ext cx="5468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6190488" y="4974336"/>
            <a:ext cx="73152" cy="7498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82" name="Text 80"/>
          <p:cNvSpPr/>
          <p:nvPr/>
        </p:nvSpPr>
        <p:spPr>
          <a:xfrm>
            <a:off x="6318504" y="5056632"/>
            <a:ext cx="640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DBA7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2000" dirty="0"/>
          </a:p>
        </p:txBody>
      </p:sp>
      <p:sp>
        <p:nvSpPr>
          <p:cNvPr id="83" name="Text 81"/>
          <p:cNvSpPr/>
          <p:nvPr/>
        </p:nvSpPr>
        <p:spPr>
          <a:xfrm>
            <a:off x="7013448" y="503834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Authentication &amp; Users</a:t>
            </a:r>
            <a:endParaRPr lang="en-US" sz="1350" dirty="0"/>
          </a:p>
        </p:txBody>
      </p:sp>
      <p:sp>
        <p:nvSpPr>
          <p:cNvPr id="84" name="Text 82"/>
          <p:cNvSpPr/>
          <p:nvPr/>
        </p:nvSpPr>
        <p:spPr>
          <a:xfrm>
            <a:off x="7013448" y="5358384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Email, Google, sessions, roles, tenancy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10415016" y="5202936"/>
            <a:ext cx="1133856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86" name="Text 84"/>
          <p:cNvSpPr/>
          <p:nvPr/>
        </p:nvSpPr>
        <p:spPr>
          <a:xfrm>
            <a:off x="10415016" y="5202936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BO-4  BO-6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 modules  |  78 scope features + 11 baseline additions = FR-001 to FR-089  |  Tags show the business objective served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System Actors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45920"/>
            <a:ext cx="2633472" cy="29718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45920"/>
            <a:ext cx="2633472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1527048" y="1901952"/>
            <a:ext cx="585216" cy="585216"/>
          </a:xfrm>
          <a:prstGeom prst="ellipse">
            <a:avLst/>
          </a:prstGeom>
          <a:solidFill>
            <a:srgbClr val="ECFDF5"/>
          </a:solidFill>
          <a:ln/>
        </p:spPr>
      </p:sp>
      <p:sp>
        <p:nvSpPr>
          <p:cNvPr id="20" name="Shape 18"/>
          <p:cNvSpPr/>
          <p:nvPr/>
        </p:nvSpPr>
        <p:spPr>
          <a:xfrm>
            <a:off x="1709928" y="2011680"/>
            <a:ext cx="219456" cy="21945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6776" y="2258568"/>
            <a:ext cx="365760" cy="164592"/>
          </a:xfrm>
          <a:prstGeom prst="roundRect">
            <a:avLst>
              <a:gd name="adj" fmla="val 44444"/>
            </a:avLst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2596896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User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" y="3035808"/>
            <a:ext cx="2231136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Owner of an SMB in any industry. Creates ads, runs campaigns and answers leads. Sees only own business data.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19272" y="1645920"/>
            <a:ext cx="2633472" cy="29718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19272" y="1645920"/>
            <a:ext cx="2633472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6" name="Shape 24"/>
          <p:cNvSpPr/>
          <p:nvPr/>
        </p:nvSpPr>
        <p:spPr>
          <a:xfrm>
            <a:off x="4343400" y="1901952"/>
            <a:ext cx="585216" cy="585216"/>
          </a:xfrm>
          <a:prstGeom prst="ellipse">
            <a:avLst/>
          </a:prstGeom>
          <a:solidFill>
            <a:srgbClr val="FFF1E7"/>
          </a:solidFill>
          <a:ln/>
        </p:spPr>
      </p:sp>
      <p:sp>
        <p:nvSpPr>
          <p:cNvPr id="27" name="Shape 25"/>
          <p:cNvSpPr/>
          <p:nvPr/>
        </p:nvSpPr>
        <p:spPr>
          <a:xfrm>
            <a:off x="4526280" y="2011680"/>
            <a:ext cx="219456" cy="21945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8" name="Shape 26"/>
          <p:cNvSpPr/>
          <p:nvPr/>
        </p:nvSpPr>
        <p:spPr>
          <a:xfrm>
            <a:off x="4453128" y="2258568"/>
            <a:ext cx="365760" cy="164592"/>
          </a:xfrm>
          <a:prstGeom prst="roundRect">
            <a:avLst>
              <a:gd name="adj" fmla="val 44444"/>
            </a:avLst>
          </a:prstGeom>
          <a:solidFill>
            <a:srgbClr val="EA580C"/>
          </a:solidFill>
          <a:ln/>
        </p:spPr>
      </p:sp>
      <p:sp>
        <p:nvSpPr>
          <p:cNvPr id="29" name="Text 27"/>
          <p:cNvSpPr/>
          <p:nvPr/>
        </p:nvSpPr>
        <p:spPr>
          <a:xfrm>
            <a:off x="3410712" y="2596896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Administrator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20440" y="3035808"/>
            <a:ext cx="2231136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Operates the platform: users, AI usage, Meta health, jobs, referrals and dataset. No lead PII.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35624" y="1645920"/>
            <a:ext cx="2633472" cy="29718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35624" y="1645920"/>
            <a:ext cx="2633472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3" name="Shape 31"/>
          <p:cNvSpPr/>
          <p:nvPr/>
        </p:nvSpPr>
        <p:spPr>
          <a:xfrm>
            <a:off x="7159752" y="1901952"/>
            <a:ext cx="585216" cy="585216"/>
          </a:xfrm>
          <a:prstGeom prst="ellipse">
            <a:avLst/>
          </a:prstGeom>
          <a:solidFill>
            <a:srgbClr val="ECFDF5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2632" y="2011680"/>
            <a:ext cx="219456" cy="21945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5" name="Shape 33"/>
          <p:cNvSpPr/>
          <p:nvPr/>
        </p:nvSpPr>
        <p:spPr>
          <a:xfrm>
            <a:off x="7269480" y="2258568"/>
            <a:ext cx="365760" cy="164592"/>
          </a:xfrm>
          <a:prstGeom prst="roundRect">
            <a:avLst>
              <a:gd name="adj" fmla="val 44444"/>
            </a:avLst>
          </a:prstGeom>
          <a:solidFill>
            <a:srgbClr val="0F766E"/>
          </a:solidFill>
          <a:ln/>
        </p:spPr>
      </p:sp>
      <p:sp>
        <p:nvSpPr>
          <p:cNvPr id="36" name="Text 34"/>
          <p:cNvSpPr/>
          <p:nvPr/>
        </p:nvSpPr>
        <p:spPr>
          <a:xfrm>
            <a:off x="6227064" y="2596896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Public Visitor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336792" y="3035808"/>
            <a:ext cx="2231136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Browses the website, pricing and free diagnostic, enquires or registers. No dashboard access.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951976" y="1645920"/>
            <a:ext cx="2633472" cy="29718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951976" y="1645920"/>
            <a:ext cx="2633472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0" name="Shape 38"/>
          <p:cNvSpPr/>
          <p:nvPr/>
        </p:nvSpPr>
        <p:spPr>
          <a:xfrm>
            <a:off x="9976104" y="1901952"/>
            <a:ext cx="585216" cy="585216"/>
          </a:xfrm>
          <a:prstGeom prst="ellipse">
            <a:avLst/>
          </a:prstGeom>
          <a:solidFill>
            <a:srgbClr val="FFF1E7"/>
          </a:solidFill>
          <a:ln/>
        </p:spPr>
      </p:sp>
      <p:sp>
        <p:nvSpPr>
          <p:cNvPr id="41" name="Shape 39"/>
          <p:cNvSpPr/>
          <p:nvPr/>
        </p:nvSpPr>
        <p:spPr>
          <a:xfrm>
            <a:off x="10158984" y="2011680"/>
            <a:ext cx="219456" cy="21945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085832" y="2258568"/>
            <a:ext cx="365760" cy="164592"/>
          </a:xfrm>
          <a:prstGeom prst="roundRect">
            <a:avLst>
              <a:gd name="adj" fmla="val 44444"/>
            </a:avLst>
          </a:prstGeom>
          <a:solidFill>
            <a:srgbClr val="EA580C"/>
          </a:solidFill>
          <a:ln/>
        </p:spPr>
      </p:sp>
      <p:sp>
        <p:nvSpPr>
          <p:cNvPr id="43" name="Text 41"/>
          <p:cNvSpPr/>
          <p:nvPr/>
        </p:nvSpPr>
        <p:spPr>
          <a:xfrm>
            <a:off x="9043416" y="2596896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WhatsApp Prospect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153144" y="3035808"/>
            <a:ext cx="2231136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Lead from a Meta form or the business number. Chats on WhatsApp only and can opt out anytime.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02920" y="4846320"/>
            <a:ext cx="111556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77240" y="4956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EXTERNAL SYSTEM ACTORS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77240" y="5349240"/>
            <a:ext cx="1783080" cy="365760"/>
          </a:xfrm>
          <a:prstGeom prst="roundRect">
            <a:avLst>
              <a:gd name="adj" fmla="val 17500"/>
            </a:avLst>
          </a:prstGeom>
          <a:solidFill>
            <a:srgbClr val="ECFDF5"/>
          </a:solidFill>
          <a:ln/>
        </p:spPr>
      </p:sp>
      <p:sp>
        <p:nvSpPr>
          <p:cNvPr id="48" name="Text 46"/>
          <p:cNvSpPr/>
          <p:nvPr/>
        </p:nvSpPr>
        <p:spPr>
          <a:xfrm>
            <a:off x="777240" y="5349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Platform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2697480" y="5349240"/>
            <a:ext cx="2331720" cy="365760"/>
          </a:xfrm>
          <a:prstGeom prst="roundRect">
            <a:avLst>
              <a:gd name="adj" fmla="val 17500"/>
            </a:avLst>
          </a:prstGeom>
          <a:solidFill>
            <a:srgbClr val="FFF1E7"/>
          </a:solidFill>
          <a:ln/>
        </p:spPr>
      </p:sp>
      <p:sp>
        <p:nvSpPr>
          <p:cNvPr id="50" name="Text 48"/>
          <p:cNvSpPr/>
          <p:nvPr/>
        </p:nvSpPr>
        <p:spPr>
          <a:xfrm>
            <a:off x="2697480" y="5349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WhatsApp Cloud API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166360" y="5349240"/>
            <a:ext cx="1097280" cy="365760"/>
          </a:xfrm>
          <a:prstGeom prst="roundRect">
            <a:avLst>
              <a:gd name="adj" fmla="val 17500"/>
            </a:avLst>
          </a:prstGeom>
          <a:solidFill>
            <a:srgbClr val="ECFDF5"/>
          </a:solidFill>
          <a:ln/>
        </p:spPr>
      </p:sp>
      <p:sp>
        <p:nvSpPr>
          <p:cNvPr id="52" name="Text 50"/>
          <p:cNvSpPr/>
          <p:nvPr/>
        </p:nvSpPr>
        <p:spPr>
          <a:xfrm>
            <a:off x="5166360" y="53492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Stripe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400800" y="5349240"/>
            <a:ext cx="1920240" cy="365760"/>
          </a:xfrm>
          <a:prstGeom prst="roundRect">
            <a:avLst>
              <a:gd name="adj" fmla="val 17500"/>
            </a:avLst>
          </a:prstGeom>
          <a:solidFill>
            <a:srgbClr val="FFF1E7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0" y="53492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Google Identity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8458200" y="5349240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ECFDF5"/>
          </a:solidFill>
          <a:ln/>
        </p:spPr>
      </p:sp>
      <p:sp>
        <p:nvSpPr>
          <p:cNvPr id="56" name="Text 54"/>
          <p:cNvSpPr/>
          <p:nvPr/>
        </p:nvSpPr>
        <p:spPr>
          <a:xfrm>
            <a:off x="8458200" y="53492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Service (Gemini / Groq)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777240" y="5806440"/>
            <a:ext cx="1508760" cy="365760"/>
          </a:xfrm>
          <a:prstGeom prst="roundRect">
            <a:avLst>
              <a:gd name="adj" fmla="val 17500"/>
            </a:avLst>
          </a:prstGeom>
          <a:solidFill>
            <a:srgbClr val="FFF1E7"/>
          </a:solidFill>
          <a:ln/>
        </p:spPr>
      </p:sp>
      <p:sp>
        <p:nvSpPr>
          <p:cNvPr id="58" name="Text 56"/>
          <p:cNvSpPr/>
          <p:nvPr/>
        </p:nvSpPr>
        <p:spPr>
          <a:xfrm>
            <a:off x="777240" y="58064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Geocoding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2423160" y="5806440"/>
            <a:ext cx="1783080" cy="365760"/>
          </a:xfrm>
          <a:prstGeom prst="roundRect">
            <a:avLst>
              <a:gd name="adj" fmla="val 17500"/>
            </a:avLst>
          </a:prstGeom>
          <a:solidFill>
            <a:srgbClr val="ECFDF5"/>
          </a:solidFill>
          <a:ln/>
        </p:spPr>
      </p:sp>
      <p:sp>
        <p:nvSpPr>
          <p:cNvPr id="60" name="Text 58"/>
          <p:cNvSpPr/>
          <p:nvPr/>
        </p:nvSpPr>
        <p:spPr>
          <a:xfrm>
            <a:off x="2423160" y="5806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Email Service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4343400" y="5806440"/>
            <a:ext cx="1783080" cy="365760"/>
          </a:xfrm>
          <a:prstGeom prst="roundRect">
            <a:avLst>
              <a:gd name="adj" fmla="val 17500"/>
            </a:avLst>
          </a:prstGeom>
          <a:solidFill>
            <a:srgbClr val="FFF1E7"/>
          </a:solidFill>
          <a:ln/>
        </p:spPr>
      </p:sp>
      <p:sp>
        <p:nvSpPr>
          <p:cNvPr id="62" name="Text 60"/>
          <p:cNvSpPr/>
          <p:nvPr/>
        </p:nvSpPr>
        <p:spPr>
          <a:xfrm>
            <a:off x="4343400" y="5806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Job Scheduler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6355080" y="58064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Non-human actors: authenticated API calls and verified webhooks.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Case Diagram: System Level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06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536192"/>
            <a:ext cx="5715000" cy="48006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pic>
        <p:nvPicPr>
          <p:cNvPr id="18" name="Image 0" descr="C:\Users\idrha\AppData\Local\Temp\srsdoc\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941" y="1627632"/>
            <a:ext cx="5392958" cy="46177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400800" y="1536192"/>
            <a:ext cx="5257800" cy="48006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656832" y="16642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 use cases  |  4 human actors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656832" y="2139696"/>
            <a:ext cx="54864" cy="80467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2" name="Text 19"/>
          <p:cNvSpPr/>
          <p:nvPr/>
        </p:nvSpPr>
        <p:spPr>
          <a:xfrm>
            <a:off x="6839712" y="213969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user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6839712" y="2450592"/>
            <a:ext cx="4663440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 use cases: set up, generate, media, deploy, monitor, leads, takeover, billing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656832" y="3072384"/>
            <a:ext cx="54864" cy="80467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5" name="Text 22"/>
          <p:cNvSpPr/>
          <p:nvPr/>
        </p:nvSpPr>
        <p:spPr>
          <a:xfrm>
            <a:off x="6839712" y="307238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Public visitor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839712" y="3383280"/>
            <a:ext cx="4663440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UC01 register, UC13 explore and enquire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656832" y="4005072"/>
            <a:ext cx="54864" cy="80467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8" name="Text 25"/>
          <p:cNvSpPr/>
          <p:nvPr/>
        </p:nvSpPr>
        <p:spPr>
          <a:xfrm>
            <a:off x="6839712" y="400507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WhatsApp prospect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6839712" y="4315968"/>
            <a:ext cx="4663440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UC08 nurture and qualify a prospect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656832" y="4937760"/>
            <a:ext cx="54864" cy="80467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1" name="Text 28"/>
          <p:cNvSpPr/>
          <p:nvPr/>
        </p:nvSpPr>
        <p:spPr>
          <a:xfrm>
            <a:off x="6839712" y="493776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Administrator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6839712" y="5248656"/>
            <a:ext cx="4663440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UC11 operate platform, UC12 referrals and knowledge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6656832" y="5870448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External systems appear in the detailed diagrams (SRS Fig. 2.2-2.7).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Case Relationships: include &amp; extend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536192"/>
            <a:ext cx="676656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pic>
        <p:nvPicPr>
          <p:cNvPr id="18" name="Image 0" descr="C:\Users\idrha\AppData\Local\Temp\srsdoc\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75416"/>
            <a:ext cx="6583680" cy="3699191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02920" y="5596128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Detailed view: ad generation and creative media (UC03, UC04)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452360" y="1536192"/>
            <a:ext cx="42062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452360" y="1536192"/>
            <a:ext cx="420624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0" y="170078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«include»  always performed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699248" y="2084832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100"/>
              </a:lnSpc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Generate ad runs the Bradley Filter</a:t>
            </a:r>
            <a:endParaRPr lang="en-US" sz="1200" dirty="0"/>
          </a:p>
          <a:p>
            <a:pPr marL="177800" indent="-177800">
              <a:lnSpc>
                <a:spcPts val="2100"/>
              </a:lnSpc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rechecks filter + location</a:t>
            </a:r>
            <a:endParaRPr lang="en-US" sz="1200" dirty="0"/>
          </a:p>
          <a:p>
            <a:pPr marL="177800" indent="-177800">
              <a:lnSpc>
                <a:spcPts val="2100"/>
              </a:lnSpc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Onboarding resolves the location</a:t>
            </a:r>
            <a:endParaRPr lang="en-US" sz="1200" dirty="0"/>
          </a:p>
          <a:p>
            <a:pPr marL="177800" indent="-177800">
              <a:lnSpc>
                <a:spcPts val="2100"/>
              </a:lnSpc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Nurturing always scores intent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452360" y="3840480"/>
            <a:ext cx="420624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452360" y="3840480"/>
            <a:ext cx="420624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0" y="400507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«extend»  only on a condition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7699248" y="4389120"/>
            <a:ext cx="38404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100"/>
              </a:lnSpc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Google sign-in or forgot password</a:t>
            </a:r>
            <a:endParaRPr lang="en-US" sz="1200" dirty="0"/>
          </a:p>
          <a:p>
            <a:pPr marL="177800" indent="-177800">
              <a:lnSpc>
                <a:spcPts val="2100"/>
              </a:lnSpc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Owner asks for onboarding tips</a:t>
            </a:r>
            <a:endParaRPr lang="en-US" sz="1200" dirty="0"/>
          </a:p>
          <a:p>
            <a:pPr marL="177800" indent="-177800">
              <a:lnSpc>
                <a:spcPts val="2100"/>
              </a:lnSpc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Owner picks an industry template</a:t>
            </a:r>
            <a:endParaRPr lang="en-US" sz="1200" dirty="0"/>
          </a:p>
          <a:p>
            <a:pPr marL="177800" indent="-177800">
              <a:lnSpc>
                <a:spcPts val="2100"/>
              </a:lnSpc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allows image or video</a:t>
            </a:r>
            <a:endParaRPr lang="en-US" sz="1200" dirty="0"/>
          </a:p>
          <a:p>
            <a:pPr marL="177800" indent="-177800">
              <a:lnSpc>
                <a:spcPts val="2100"/>
              </a:lnSpc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Owner edits a media asset</a:t>
            </a:r>
            <a:endParaRPr lang="en-US" sz="1200" dirty="0"/>
          </a:p>
          <a:p>
            <a:pPr marL="177800" indent="-177800">
              <a:lnSpc>
                <a:spcPts val="2100"/>
              </a:lnSpc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Lead score first reaches 70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06  |  MOCKUPS, FRS, RULES &amp; EVENTS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Workflow 1: Business Onboarding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08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536192"/>
            <a:ext cx="635508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pic>
        <p:nvPicPr>
          <p:cNvPr id="18" name="Image 0" descr="C:\Users\idrha\AppData\Local\Temp\srsdoc\imag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7717" y="1627632"/>
            <a:ext cx="4085487" cy="336499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02920" y="5157216"/>
            <a:ext cx="6355080" cy="310896"/>
          </a:xfrm>
          <a:prstGeom prst="roundRect">
            <a:avLst>
              <a:gd name="adj" fmla="val 20588"/>
            </a:avLst>
          </a:prstGeom>
          <a:solidFill>
            <a:srgbClr val="ECFDF5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5157216"/>
            <a:ext cx="6355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M01-S01  Business Onboarding Wizard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040880" y="1536192"/>
            <a:ext cx="461772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040880" y="1536192"/>
            <a:ext cx="461772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Text 20"/>
          <p:cNvSpPr/>
          <p:nvPr/>
        </p:nvSpPr>
        <p:spPr>
          <a:xfrm>
            <a:off x="7269480" y="1682496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Functional requirements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269480" y="215798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5" name="Text 22"/>
          <p:cNvSpPr/>
          <p:nvPr/>
        </p:nvSpPr>
        <p:spPr>
          <a:xfrm>
            <a:off x="7269480" y="215798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FR-001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266176" y="2066544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Guided steps with validation and progress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269480" y="2761488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8" name="Text 25"/>
          <p:cNvSpPr/>
          <p:nvPr/>
        </p:nvSpPr>
        <p:spPr>
          <a:xfrm>
            <a:off x="7269480" y="2761488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FR-005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266176" y="2670048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Resume the latest incomplete step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269480" y="336499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31" name="Text 28"/>
          <p:cNvSpPr/>
          <p:nvPr/>
        </p:nvSpPr>
        <p:spPr>
          <a:xfrm>
            <a:off x="7269480" y="336499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FR-087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6176" y="3273552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Name, industry, offer, audience, tone, location required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040880" y="4041648"/>
            <a:ext cx="46177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040880" y="4041648"/>
            <a:ext cx="461772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5" name="Text 32"/>
          <p:cNvSpPr/>
          <p:nvPr/>
        </p:nvSpPr>
        <p:spPr>
          <a:xfrm>
            <a:off x="7269480" y="4169664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rules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269480" y="459943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7" name="Text 34"/>
          <p:cNvSpPr/>
          <p:nvPr/>
        </p:nvSpPr>
        <p:spPr>
          <a:xfrm>
            <a:off x="7269480" y="459943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BR-003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266176" y="4553712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Location must be resolved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7269480" y="503834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40" name="Text 37"/>
          <p:cNvSpPr/>
          <p:nvPr/>
        </p:nvSpPr>
        <p:spPr>
          <a:xfrm>
            <a:off x="7269480" y="503834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BR-012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266176" y="4992624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Profile grounds generation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11155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84632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Event / trigger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System response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Exception handling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Owner submits a step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Validate, save step, geocode location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3412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Invalid step keeps entries, shows errors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06  |  MOCKUPS, FRS, RULES &amp; EVENTS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Workflow 2: AI Ad Generation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09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536192"/>
            <a:ext cx="635508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pic>
        <p:nvPicPr>
          <p:cNvPr id="18" name="Image 0" descr="C:\Users\idrha\AppData\Local\Temp\srsdoc\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304" y="1627632"/>
            <a:ext cx="4542311" cy="336499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02920" y="5157216"/>
            <a:ext cx="6355080" cy="310896"/>
          </a:xfrm>
          <a:prstGeom prst="roundRect">
            <a:avLst>
              <a:gd name="adj" fmla="val 20588"/>
            </a:avLst>
          </a:prstGeom>
          <a:solidFill>
            <a:srgbClr val="ECFDF5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5157216"/>
            <a:ext cx="6355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M02-S01  AI Ad Generator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040880" y="1536192"/>
            <a:ext cx="461772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040880" y="1536192"/>
            <a:ext cx="461772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Text 20"/>
          <p:cNvSpPr/>
          <p:nvPr/>
        </p:nvSpPr>
        <p:spPr>
          <a:xfrm>
            <a:off x="7269480" y="1682496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Functional requirements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269480" y="215798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5" name="Text 22"/>
          <p:cNvSpPr/>
          <p:nvPr/>
        </p:nvSpPr>
        <p:spPr>
          <a:xfrm>
            <a:off x="7269480" y="215798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FR-008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266176" y="2066544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Editable draft from brief + profile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269480" y="2761488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8" name="Text 25"/>
          <p:cNvSpPr/>
          <p:nvPr/>
        </p:nvSpPr>
        <p:spPr>
          <a:xfrm>
            <a:off x="7269480" y="2761488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FR-011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266176" y="2670048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Readability and compliance scores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269480" y="336499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31" name="Text 28"/>
          <p:cNvSpPr/>
          <p:nvPr/>
        </p:nvSpPr>
        <p:spPr>
          <a:xfrm>
            <a:off x="7269480" y="336499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FR-012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6176" y="3273552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Variations bounded by credits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040880" y="4041648"/>
            <a:ext cx="46177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040880" y="4041648"/>
            <a:ext cx="461772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5" name="Text 32"/>
          <p:cNvSpPr/>
          <p:nvPr/>
        </p:nvSpPr>
        <p:spPr>
          <a:xfrm>
            <a:off x="7269480" y="4169664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rules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269480" y="459943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7" name="Text 34"/>
          <p:cNvSpPr/>
          <p:nvPr/>
        </p:nvSpPr>
        <p:spPr>
          <a:xfrm>
            <a:off x="7269480" y="459943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BR-002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266176" y="4553712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Filter is not Meta approval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7269480" y="503834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40" name="Text 37"/>
          <p:cNvSpPr/>
          <p:nvPr/>
        </p:nvSpPr>
        <p:spPr>
          <a:xfrm>
            <a:off x="7269480" y="503834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BR-006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266176" y="4992624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limits control credits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11155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84632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Event / trigger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System response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Exception handling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EV-01 Generation requested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Reserve credit, retrieve RAG context, call AI, check, save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3412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Timeout releases credit; never publishes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06  |  MOCKUPS, FRS, RULES &amp; EVENTS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Workflow 3: Media Studio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536192"/>
            <a:ext cx="635508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pic>
        <p:nvPicPr>
          <p:cNvPr id="18" name="Image 0" descr="C:\Users\idrha\AppData\Local\Temp\srsdoc\image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466" y="1627632"/>
            <a:ext cx="5383987" cy="336499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02920" y="5157216"/>
            <a:ext cx="6355080" cy="310896"/>
          </a:xfrm>
          <a:prstGeom prst="roundRect">
            <a:avLst>
              <a:gd name="adj" fmla="val 20588"/>
            </a:avLst>
          </a:prstGeom>
          <a:solidFill>
            <a:srgbClr val="ECFDF5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5157216"/>
            <a:ext cx="6355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M03-S01  Media Studio and Editor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040880" y="1536192"/>
            <a:ext cx="461772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040880" y="1536192"/>
            <a:ext cx="461772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Text 20"/>
          <p:cNvSpPr/>
          <p:nvPr/>
        </p:nvSpPr>
        <p:spPr>
          <a:xfrm>
            <a:off x="7269480" y="1682496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Functional requirements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269480" y="215798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5" name="Text 22"/>
          <p:cNvSpPr/>
          <p:nvPr/>
        </p:nvSpPr>
        <p:spPr>
          <a:xfrm>
            <a:off x="7269480" y="215798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FR-017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266176" y="2066544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JPG/PNG 30 MB, MP4/MOV 250 MB validated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269480" y="2761488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8" name="Text 25"/>
          <p:cNvSpPr/>
          <p:nvPr/>
        </p:nvSpPr>
        <p:spPr>
          <a:xfrm>
            <a:off x="7269480" y="2761488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FR-019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266176" y="2670048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Editable captions with timing preview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269480" y="336499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31" name="Text 28"/>
          <p:cNvSpPr/>
          <p:nvPr/>
        </p:nvSpPr>
        <p:spPr>
          <a:xfrm>
            <a:off x="7269480" y="336499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FR-020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6176" y="3273552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Resize per Meta placement, source kept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040880" y="4041648"/>
            <a:ext cx="46177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040880" y="4041648"/>
            <a:ext cx="461772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5" name="Text 32"/>
          <p:cNvSpPr/>
          <p:nvPr/>
        </p:nvSpPr>
        <p:spPr>
          <a:xfrm>
            <a:off x="7269480" y="4169664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rules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269480" y="459943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7" name="Text 34"/>
          <p:cNvSpPr/>
          <p:nvPr/>
        </p:nvSpPr>
        <p:spPr>
          <a:xfrm>
            <a:off x="7269480" y="459943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BR-010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266176" y="4553712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Every file has one tenant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7269480" y="503834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40" name="Text 37"/>
          <p:cNvSpPr/>
          <p:nvPr/>
        </p:nvSpPr>
        <p:spPr>
          <a:xfrm>
            <a:off x="7269480" y="503834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BR-001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266176" y="4992624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Facebook + Instagram sizes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11155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84632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Event / trigger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System response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Exception handling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EV-02 Upload or edit done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Verify type and signature, store privately, new version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3412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Invalid file rejected; failure keeps source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06  |  MOCKUPS, FRS, RULES &amp; EVENTS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Workflow 4: Meta Campaign Deployment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536192"/>
            <a:ext cx="635508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pic>
        <p:nvPicPr>
          <p:cNvPr id="18" name="Image 0" descr="C:\Users\idrha\AppData\Local\Temp\srsdoc\image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4748" y="1627632"/>
            <a:ext cx="3991424" cy="336499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02920" y="5157216"/>
            <a:ext cx="6355080" cy="310896"/>
          </a:xfrm>
          <a:prstGeom prst="roundRect">
            <a:avLst>
              <a:gd name="adj" fmla="val 20588"/>
            </a:avLst>
          </a:prstGeom>
          <a:solidFill>
            <a:srgbClr val="ECFDF5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5157216"/>
            <a:ext cx="6355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M04-S01  Meta Connection and Campaign Review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040880" y="1536192"/>
            <a:ext cx="461772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040880" y="1536192"/>
            <a:ext cx="461772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Text 20"/>
          <p:cNvSpPr/>
          <p:nvPr/>
        </p:nvSpPr>
        <p:spPr>
          <a:xfrm>
            <a:off x="7269480" y="1682496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Functional requirements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269480" y="215798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5" name="Text 22"/>
          <p:cNvSpPr/>
          <p:nvPr/>
        </p:nvSpPr>
        <p:spPr>
          <a:xfrm>
            <a:off x="7269480" y="215798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FR-026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266176" y="2066544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OAuth with validated state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269480" y="2761488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8" name="Text 25"/>
          <p:cNvSpPr/>
          <p:nvPr/>
        </p:nvSpPr>
        <p:spPr>
          <a:xfrm>
            <a:off x="7269480" y="2761488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FR-028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266176" y="2670048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 objectives, budget, schedule, review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269480" y="336499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31" name="Text 28"/>
          <p:cNvSpPr/>
          <p:nvPr/>
        </p:nvSpPr>
        <p:spPr>
          <a:xfrm>
            <a:off x="7269480" y="336499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FR-030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6176" y="3273552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Geocoded location confirmed by owner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040880" y="4041648"/>
            <a:ext cx="46177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040880" y="4041648"/>
            <a:ext cx="461772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5" name="Text 32"/>
          <p:cNvSpPr/>
          <p:nvPr/>
        </p:nvSpPr>
        <p:spPr>
          <a:xfrm>
            <a:off x="7269480" y="4169664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rules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269480" y="459943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7" name="Text 34"/>
          <p:cNvSpPr/>
          <p:nvPr/>
        </p:nvSpPr>
        <p:spPr>
          <a:xfrm>
            <a:off x="7269480" y="459943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BR-005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266176" y="4553712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Bad token blocks Meta writes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7269480" y="503834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40" name="Text 37"/>
          <p:cNvSpPr/>
          <p:nvPr/>
        </p:nvSpPr>
        <p:spPr>
          <a:xfrm>
            <a:off x="7269480" y="503834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BR-009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266176" y="4992624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Owner action publishes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11155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84632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Event / trigger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System response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Exception handling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EV-04 Campaign submit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Recheck entitlement and token, create Meta objects, store IDs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3412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Keep last state; reconcile before retry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06  |  MOCKUPS, FRS, RULES &amp; EVENTS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Workflow 5: Lead Management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536192"/>
            <a:ext cx="635508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pic>
        <p:nvPicPr>
          <p:cNvPr id="18" name="Image 0" descr="C:\Users\idrha\AppData\Local\Temp\srsdoc\image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466" y="1627632"/>
            <a:ext cx="5383987" cy="336499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02920" y="5157216"/>
            <a:ext cx="6355080" cy="310896"/>
          </a:xfrm>
          <a:prstGeom prst="roundRect">
            <a:avLst>
              <a:gd name="adj" fmla="val 20588"/>
            </a:avLst>
          </a:prstGeom>
          <a:solidFill>
            <a:srgbClr val="ECFDF5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5157216"/>
            <a:ext cx="6355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M05-S01  Leads Workspace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040880" y="1536192"/>
            <a:ext cx="461772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040880" y="1536192"/>
            <a:ext cx="461772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Text 20"/>
          <p:cNvSpPr/>
          <p:nvPr/>
        </p:nvSpPr>
        <p:spPr>
          <a:xfrm>
            <a:off x="7269480" y="1682496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Functional requirements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269480" y="215798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5" name="Text 22"/>
          <p:cNvSpPr/>
          <p:nvPr/>
        </p:nvSpPr>
        <p:spPr>
          <a:xfrm>
            <a:off x="7269480" y="215798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FR-037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266176" y="2066544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Upsert leads by tenant + Meta lead ID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269480" y="2761488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8" name="Text 25"/>
          <p:cNvSpPr/>
          <p:nvPr/>
        </p:nvSpPr>
        <p:spPr>
          <a:xfrm>
            <a:off x="7269480" y="2761488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FR-038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266176" y="2670048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Manual refresh with last sync time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269480" y="336499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31" name="Text 28"/>
          <p:cNvSpPr/>
          <p:nvPr/>
        </p:nvSpPr>
        <p:spPr>
          <a:xfrm>
            <a:off x="7269480" y="336499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FR-041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6176" y="3273552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Search, filter, status incl. Do not contact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040880" y="4041648"/>
            <a:ext cx="46177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040880" y="4041648"/>
            <a:ext cx="461772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5" name="Text 32"/>
          <p:cNvSpPr/>
          <p:nvPr/>
        </p:nvSpPr>
        <p:spPr>
          <a:xfrm>
            <a:off x="7269480" y="4169664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rules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269480" y="459943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7" name="Text 34"/>
          <p:cNvSpPr/>
          <p:nvPr/>
        </p:nvSpPr>
        <p:spPr>
          <a:xfrm>
            <a:off x="7269480" y="459943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BR-008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266176" y="4553712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Leads visible to owner only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7269480" y="503834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40" name="Text 37"/>
          <p:cNvSpPr/>
          <p:nvPr/>
        </p:nvSpPr>
        <p:spPr>
          <a:xfrm>
            <a:off x="7269480" y="503834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BR-011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266176" y="4992624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DNC stops automation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11155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84632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Event / trigger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System response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Exception handling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EV-06 Lead sync or Refresh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Fetch pages, upsert, encrypt PII, keep owner notes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3412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Partial failure keeps cursor and records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06  |  MOCKUPS, FRS, RULES &amp; EVENTS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Workflow 6: AI WhatsApp Nurturing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536192"/>
            <a:ext cx="635508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pic>
        <p:nvPicPr>
          <p:cNvPr id="18" name="Image 0" descr="C:\Users\idrha\AppData\Local\Temp\srsdoc\image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030" y="1627632"/>
            <a:ext cx="5512859" cy="336499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02920" y="5157216"/>
            <a:ext cx="6355080" cy="310896"/>
          </a:xfrm>
          <a:prstGeom prst="roundRect">
            <a:avLst>
              <a:gd name="adj" fmla="val 20588"/>
            </a:avLst>
          </a:prstGeom>
          <a:solidFill>
            <a:srgbClr val="ECFDF5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5157216"/>
            <a:ext cx="6355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M06-S01  WhatsApp AI Agent and Takeover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040880" y="1536192"/>
            <a:ext cx="461772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040880" y="1536192"/>
            <a:ext cx="461772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Text 20"/>
          <p:cNvSpPr/>
          <p:nvPr/>
        </p:nvSpPr>
        <p:spPr>
          <a:xfrm>
            <a:off x="7269480" y="1682496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Functional requirements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269480" y="215798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5" name="Text 22"/>
          <p:cNvSpPr/>
          <p:nvPr/>
        </p:nvSpPr>
        <p:spPr>
          <a:xfrm>
            <a:off x="7269480" y="215798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FR-044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266176" y="2066544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Send only with opt-in and entitlement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269480" y="2761488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8" name="Text 25"/>
          <p:cNvSpPr/>
          <p:nvPr/>
        </p:nvSpPr>
        <p:spPr>
          <a:xfrm>
            <a:off x="7269480" y="2761488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FR-046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266176" y="2670048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Intent score 0-100 with reason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269480" y="336499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31" name="Text 28"/>
          <p:cNvSpPr/>
          <p:nvPr/>
        </p:nvSpPr>
        <p:spPr>
          <a:xfrm>
            <a:off x="7269480" y="336499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FR-052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6176" y="3273552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Owner takeover pauses the AI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040880" y="4041648"/>
            <a:ext cx="46177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040880" y="4041648"/>
            <a:ext cx="461772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5" name="Text 32"/>
          <p:cNvSpPr/>
          <p:nvPr/>
        </p:nvSpPr>
        <p:spPr>
          <a:xfrm>
            <a:off x="7269480" y="4169664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rules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269480" y="459943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7" name="Text 34"/>
          <p:cNvSpPr/>
          <p:nvPr/>
        </p:nvSpPr>
        <p:spPr>
          <a:xfrm>
            <a:off x="7269480" y="459943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BR-011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266176" y="4553712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Takeover / STOP halts replies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7269480" y="503834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40" name="Text 37"/>
          <p:cNvSpPr/>
          <p:nvPr/>
        </p:nvSpPr>
        <p:spPr>
          <a:xfrm>
            <a:off x="7269480" y="503834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BR-008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266176" y="4992624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Transcripts stay private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11155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84632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Event / trigger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System response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Exception handling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EV-08 Nurturing job due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Recheck opt-in, use template outside 24 h, send, store ID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3412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Retry after 1, 5, 15 min; hold if no template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06  |  MOCKUPS, FRS, RULES &amp; EVENTS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Workflow 7: Subscription &amp; Billing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536192"/>
            <a:ext cx="635508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pic>
        <p:nvPicPr>
          <p:cNvPr id="18" name="Image 0" descr="C:\Users\idrha\AppData\Local\Temp\srsdoc\image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466" y="1627632"/>
            <a:ext cx="5383987" cy="336499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02920" y="5157216"/>
            <a:ext cx="6355080" cy="310896"/>
          </a:xfrm>
          <a:prstGeom prst="roundRect">
            <a:avLst>
              <a:gd name="adj" fmla="val 20588"/>
            </a:avLst>
          </a:prstGeom>
          <a:solidFill>
            <a:srgbClr val="ECFDF5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5157216"/>
            <a:ext cx="6355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M07-S01  Billing and Subscription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040880" y="1536192"/>
            <a:ext cx="461772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040880" y="1536192"/>
            <a:ext cx="4617720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Text 20"/>
          <p:cNvSpPr/>
          <p:nvPr/>
        </p:nvSpPr>
        <p:spPr>
          <a:xfrm>
            <a:off x="7269480" y="1682496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Functional requirements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269480" y="215798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5" name="Text 22"/>
          <p:cNvSpPr/>
          <p:nvPr/>
        </p:nvSpPr>
        <p:spPr>
          <a:xfrm>
            <a:off x="7269480" y="215798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FR-053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266176" y="2066544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Stripe Checkout from server-side price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269480" y="2761488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8" name="Text 25"/>
          <p:cNvSpPr/>
          <p:nvPr/>
        </p:nvSpPr>
        <p:spPr>
          <a:xfrm>
            <a:off x="7269480" y="2761488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FR-054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266176" y="2670048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14-day card-backed free trial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269480" y="336499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31" name="Text 28"/>
          <p:cNvSpPr/>
          <p:nvPr/>
        </p:nvSpPr>
        <p:spPr>
          <a:xfrm>
            <a:off x="7269480" y="336499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FR-057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6176" y="3273552"/>
            <a:ext cx="32735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Access matrix enforced on API + jobs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040880" y="4041648"/>
            <a:ext cx="4617720" cy="1426464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040880" y="4041648"/>
            <a:ext cx="4617720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5" name="Text 32"/>
          <p:cNvSpPr/>
          <p:nvPr/>
        </p:nvSpPr>
        <p:spPr>
          <a:xfrm>
            <a:off x="7269480" y="4169664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Business rules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269480" y="4599432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7" name="Text 34"/>
          <p:cNvSpPr/>
          <p:nvPr/>
        </p:nvSpPr>
        <p:spPr>
          <a:xfrm>
            <a:off x="7269480" y="4599432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BR-006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266176" y="4553712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Status controls actions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7269480" y="5038344"/>
            <a:ext cx="896112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40" name="Text 37"/>
          <p:cNvSpPr/>
          <p:nvPr/>
        </p:nvSpPr>
        <p:spPr>
          <a:xfrm>
            <a:off x="7269480" y="5038344"/>
            <a:ext cx="896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BR-007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266176" y="4992624"/>
            <a:ext cx="3273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AUD incl. GST pricing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11155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84632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Event / trigger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System response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Exception handling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2F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C1A1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EV-12 Stripe webhook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3B3D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Verify signature, dedupe, fetch subscription, update credits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3412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Invalid signature changes nothing</a:t>
                      </a:r>
                      <a:endParaRPr lang="en-US" sz="11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07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Non-Functional Requirements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09344"/>
            <a:ext cx="5468112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09344"/>
            <a:ext cx="5468112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18105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Performance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434840" y="1847088"/>
            <a:ext cx="1298448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21" name="Text 19"/>
          <p:cNvSpPr/>
          <p:nvPr/>
        </p:nvSpPr>
        <p:spPr>
          <a:xfrm>
            <a:off x="4434840" y="184708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NFR-PER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3816" y="2304288"/>
            <a:ext cx="4937760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95% of pages usable within 4 s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95% of API reads under 500 ms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 draft or failure within 30 s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Webhooks acknowledged in 2 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190488" y="1609344"/>
            <a:ext cx="5468112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90488" y="1609344"/>
            <a:ext cx="5468112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5" name="Text 23"/>
          <p:cNvSpPr/>
          <p:nvPr/>
        </p:nvSpPr>
        <p:spPr>
          <a:xfrm>
            <a:off x="6464808" y="18105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Security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10122408" y="1847088"/>
            <a:ext cx="1298448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27" name="Text 25"/>
          <p:cNvSpPr/>
          <p:nvPr/>
        </p:nvSpPr>
        <p:spPr>
          <a:xfrm>
            <a:off x="10122408" y="184708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NFR-SEC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01384" y="2304288"/>
            <a:ext cx="4937760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Lead PII encrypted at rest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HTTPS with TLS 1.2+ everywhere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Zero cross-tenant access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Signed webhooks; no leaked secrets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02920" y="3986784"/>
            <a:ext cx="5468112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3986784"/>
            <a:ext cx="5468112" cy="8229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1879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Usability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434840" y="4224528"/>
            <a:ext cx="1298448" cy="292608"/>
          </a:xfrm>
          <a:prstGeom prst="roundRect">
            <a:avLst>
              <a:gd name="adj" fmla="val 21875"/>
            </a:avLst>
          </a:prstGeom>
          <a:solidFill>
            <a:srgbClr val="ECFDF5"/>
          </a:solidFill>
          <a:ln/>
        </p:spPr>
      </p:sp>
      <p:sp>
        <p:nvSpPr>
          <p:cNvPr id="33" name="Text 31"/>
          <p:cNvSpPr/>
          <p:nvPr/>
        </p:nvSpPr>
        <p:spPr>
          <a:xfrm>
            <a:off x="4434840" y="422452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C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NFR-USE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13816" y="4681728"/>
            <a:ext cx="4937760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of 5 novices draft an ad in 15 min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WCAG 2.2 AA, 4.5:1 text contrast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Pending state shown within 1 s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Errors name the field, keep input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190488" y="3986784"/>
            <a:ext cx="5468112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90488" y="3986784"/>
            <a:ext cx="5468112" cy="8229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7" name="Text 35"/>
          <p:cNvSpPr/>
          <p:nvPr/>
        </p:nvSpPr>
        <p:spPr>
          <a:xfrm>
            <a:off x="6464808" y="41879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Reliability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10122408" y="4224528"/>
            <a:ext cx="1298448" cy="292608"/>
          </a:xfrm>
          <a:prstGeom prst="roundRect">
            <a:avLst>
              <a:gd name="adj" fmla="val 21875"/>
            </a:avLst>
          </a:prstGeom>
          <a:solidFill>
            <a:srgbClr val="FFF1E7"/>
          </a:solidFill>
          <a:ln/>
        </p:spPr>
      </p:sp>
      <p:sp>
        <p:nvSpPr>
          <p:cNvPr id="39" name="Text 37"/>
          <p:cNvSpPr/>
          <p:nvPr/>
        </p:nvSpPr>
        <p:spPr>
          <a:xfrm>
            <a:off x="10122408" y="422452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NFR-REL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501384" y="4681728"/>
            <a:ext cx="4937760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99.5% monthly availability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MTBF of at least 720 hours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Replays create zero duplicates</a:t>
            </a:r>
            <a:endParaRPr lang="en-US" sz="1350" dirty="0"/>
          </a:p>
          <a:p>
            <a:pPr marL="177800" indent="-177800">
              <a:lnSpc>
                <a:spcPts val="2300"/>
              </a:lnSpc>
              <a:buSzPct val="100000"/>
              <a:buChar char="▪"/>
            </a:pPr>
            <a:r>
              <a:rPr lang="en-US" sz="135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Last good data kept on failure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42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61872"/>
            <a:ext cx="12188952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9811512" y="-1371600"/>
            <a:ext cx="2926080" cy="292608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EEAD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SECTION 07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75488" y="475488"/>
            <a:ext cx="9692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External Interfaces &amp; Constraints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908792" y="310896"/>
            <a:ext cx="658368" cy="658368"/>
          </a:xfrm>
          <a:prstGeom prst="roundRect">
            <a:avLst>
              <a:gd name="adj" fmla="val 30556"/>
            </a:avLst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1032236" y="660654"/>
            <a:ext cx="56579" cy="123444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11124819" y="578358"/>
            <a:ext cx="56579" cy="2057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7402" y="496062"/>
            <a:ext cx="56579" cy="288036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1" name="Shape 9"/>
          <p:cNvSpPr/>
          <p:nvPr/>
        </p:nvSpPr>
        <p:spPr>
          <a:xfrm>
            <a:off x="11309985" y="413766"/>
            <a:ext cx="56579" cy="3703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6437376"/>
            <a:ext cx="12188952" cy="18288"/>
          </a:xfrm>
          <a:prstGeom prst="rect">
            <a:avLst/>
          </a:prstGeom>
          <a:solidFill>
            <a:srgbClr val="D7E0D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473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Campaignly.AI  |  SRS Presentation 2026-27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28832" y="6492240"/>
            <a:ext cx="530352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1228832" y="6492240"/>
            <a:ext cx="530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609344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1609344"/>
            <a:ext cx="82296" cy="13716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795528" y="1737360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User Interfaces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95528" y="2121408"/>
            <a:ext cx="498348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Campaignly design system, sidebar navigation, labelled status badges, confirmations on risky actions, keyboard support.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1609344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90488" y="1609344"/>
            <a:ext cx="82296" cy="13716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1737360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Software Interfaces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83096" y="2121408"/>
            <a:ext cx="498348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Marketing API + Lead Ads, WhatsApp Cloud API, Stripe, Google OIDC, Gemini and Groq, geocoder, email, AWS S3.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" y="3127248"/>
            <a:ext cx="82296" cy="13716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7" name="Text 25"/>
          <p:cNvSpPr/>
          <p:nvPr/>
        </p:nvSpPr>
        <p:spPr>
          <a:xfrm>
            <a:off x="795528" y="32552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Hardware Interfaces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95528" y="3639312"/>
            <a:ext cx="498348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direct hardware. Any computer, tablet or phone with a modern browser; hosting sized to the performance targets.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90488" y="3127248"/>
            <a:ext cx="546811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90488" y="3127248"/>
            <a:ext cx="82296" cy="13716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1" name="Text 29"/>
          <p:cNvSpPr/>
          <p:nvPr/>
        </p:nvSpPr>
        <p:spPr>
          <a:xfrm>
            <a:off x="6483096" y="32552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1A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Communications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83096" y="3639312"/>
            <a:ext cx="498348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HTTPS + JSON, email and in-app alerts, WhatsApp via the business number only, verify-then-acknowledge webhooks.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4736592"/>
            <a:ext cx="1115568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127000" dist="25400" dir="5400000">
              <a:srgbClr val="0C1A1A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77240" y="48463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F76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CONSTRAINTS &amp; OPERATING ENVIRONMENT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7240" y="5230368"/>
            <a:ext cx="3611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Next.js, logic on server only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34840" y="5230368"/>
            <a:ext cx="3611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Prisma: SQLite, then PostgreSQL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92440" y="5230368"/>
            <a:ext cx="3611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Meta APIs after app review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77240" y="5687568"/>
            <a:ext cx="3611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Stripe only; no card storage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434840" y="5687568"/>
            <a:ext cx="3611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major browsers, 360-1920 px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092440" y="5687568"/>
            <a:ext cx="3611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200" dirty="0">
                <a:solidFill>
                  <a:srgbClr val="2E3B3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Secrets only in server config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42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931920"/>
            <a:ext cx="5486400" cy="548640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3" name="Shape 1"/>
          <p:cNvSpPr/>
          <p:nvPr/>
        </p:nvSpPr>
        <p:spPr>
          <a:xfrm>
            <a:off x="9079992" y="-2011680"/>
            <a:ext cx="5486400" cy="5486400"/>
          </a:xfrm>
          <a:prstGeom prst="ellipse">
            <a:avLst/>
          </a:prstGeom>
          <a:solidFill>
            <a:srgbClr val="0A5C5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Shape 3"/>
          <p:cNvSpPr/>
          <p:nvPr/>
        </p:nvSpPr>
        <p:spPr>
          <a:xfrm>
            <a:off x="5637276" y="178308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0F766E"/>
          </a:solidFill>
          <a:ln/>
        </p:spPr>
      </p:sp>
      <p:sp>
        <p:nvSpPr>
          <p:cNvPr id="6" name="Shape 4"/>
          <p:cNvSpPr/>
          <p:nvPr/>
        </p:nvSpPr>
        <p:spPr>
          <a:xfrm>
            <a:off x="5808726" y="2268855"/>
            <a:ext cx="78581" cy="17145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7" name="Shape 5"/>
          <p:cNvSpPr/>
          <p:nvPr/>
        </p:nvSpPr>
        <p:spPr>
          <a:xfrm>
            <a:off x="5937314" y="2154555"/>
            <a:ext cx="78581" cy="28575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8" name="Shape 6"/>
          <p:cNvSpPr/>
          <p:nvPr/>
        </p:nvSpPr>
        <p:spPr>
          <a:xfrm>
            <a:off x="6065901" y="2040255"/>
            <a:ext cx="78581" cy="40005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Shape 7"/>
          <p:cNvSpPr/>
          <p:nvPr/>
        </p:nvSpPr>
        <p:spPr>
          <a:xfrm>
            <a:off x="6194489" y="1925955"/>
            <a:ext cx="78581" cy="51435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0" y="288036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11" name="Shape 9"/>
          <p:cNvSpPr/>
          <p:nvPr/>
        </p:nvSpPr>
        <p:spPr>
          <a:xfrm>
            <a:off x="5362956" y="3822192"/>
            <a:ext cx="1463040" cy="7315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0" y="4023360"/>
            <a:ext cx="12188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3E6E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0" y="498348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FC9C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Majid Farooq Qureshi (FA23-BCS-045)     |     Habib Ur Rehman (FA23-BCS-116)</a:t>
            </a:r>
            <a:endParaRPr lang="en-US" sz="14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FC9C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Supervisor: Ms. Saadia Maqbool     |     COMSATS University Islamabad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Campaignly.AI - Software Requirements Specification</dc:title>
  <dc:subject>PptxGenJS Presentation</dc:subject>
  <dc:creator>Majid Farooq Qureshi &amp; Habib Ur Rehman</dc:creator>
  <cp:lastModifiedBy>Majid Farooq Qureshi &amp; Habib Ur Rehman</cp:lastModifiedBy>
  <cp:revision>1</cp:revision>
  <dcterms:created xsi:type="dcterms:W3CDTF">2026-10-26T09:07:47Z</dcterms:created>
  <dcterms:modified xsi:type="dcterms:W3CDTF">2026-10-26T09:07:47Z</dcterms:modified>
</cp:coreProperties>
</file>