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2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194560"/>
            <a:ext cx="5943600" cy="594360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3" name="Shape 1"/>
          <p:cNvSpPr/>
          <p:nvPr/>
        </p:nvSpPr>
        <p:spPr>
          <a:xfrm>
            <a:off x="9354312" y="4114800"/>
            <a:ext cx="4937760" cy="493776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-1005840"/>
            <a:ext cx="2377440" cy="237744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658368"/>
            <a:ext cx="1005840" cy="100584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7" name="Shape 5"/>
          <p:cNvSpPr/>
          <p:nvPr/>
        </p:nvSpPr>
        <p:spPr>
          <a:xfrm>
            <a:off x="1057275" y="1192721"/>
            <a:ext cx="86439" cy="18859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Shape 6"/>
          <p:cNvSpPr/>
          <p:nvPr/>
        </p:nvSpPr>
        <p:spPr>
          <a:xfrm>
            <a:off x="1198721" y="1066991"/>
            <a:ext cx="86439" cy="31432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340168" y="941260"/>
            <a:ext cx="86439" cy="44005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481614" y="815531"/>
            <a:ext cx="86439" cy="565785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87452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YEAR PROJECT PROPOSAL  |  2025-26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212848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</a:t>
            </a:r>
            <a:endParaRPr lang="en-US" sz="60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1463040" cy="7315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5204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E6E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that writes, launches and nurtures your Meta ad campaigns.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68680" y="4754880"/>
            <a:ext cx="54864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7365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992624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Majid Farooq Qureshi   FA23-BCS-045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Habib Ur Rehman   FA23-BCS-116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4754880"/>
            <a:ext cx="54864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47365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SUPERVISOR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4992624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Ms. Saadia Maqbool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4754880"/>
            <a:ext cx="54864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8092440" y="47365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PROGRAMME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4992624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BS Computer Science (2023-2027)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COMSATS University Islamabad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Title &amp; Aim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27632"/>
            <a:ext cx="11155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27632"/>
            <a:ext cx="91440" cy="15544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18105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TITLE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084832"/>
            <a:ext cx="10698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- AI-Powered Meta Advertising &amp; Lead Automation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" y="2615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Category C: Problem Solving &amp; Artificial Intelligence   |   Multi-tenant Web SaaS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429000"/>
            <a:ext cx="352044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65760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6576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44168" y="365760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77240" y="4279392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Ads Manager demands marketing expertise. SMEs juggle disconnected tools for ads, campaigns and leads.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279392" y="3429000"/>
            <a:ext cx="352044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365760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EA580C"/>
          </a:solidFill>
          <a:ln/>
        </p:spPr>
      </p:sp>
      <p:sp>
        <p:nvSpPr>
          <p:cNvPr id="29" name="Text 27"/>
          <p:cNvSpPr/>
          <p:nvPr/>
        </p:nvSpPr>
        <p:spPr>
          <a:xfrm>
            <a:off x="4553712" y="36576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20640" y="365760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Aim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553712" y="4279392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Turn a short onboarding form into compliant Meta ads, deployed automatically and nurtured by AI.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055864" y="3429000"/>
            <a:ext cx="352044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30184" y="365760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34" name="Text 32"/>
          <p:cNvSpPr/>
          <p:nvPr/>
        </p:nvSpPr>
        <p:spPr>
          <a:xfrm>
            <a:off x="8330184" y="36576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897112" y="365760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Outcome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330184" y="4279392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full lead-generation campaign in minutes. No agency, no Ads Manager, no marketing background.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Existing Solutions &amp; Gap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Existing System</a:t>
                      </a:r>
                      <a:endParaRPr lang="en-US" sz="15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Shortcoming</a:t>
                      </a:r>
                      <a:endParaRPr lang="en-US" sz="15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Campaignly.AI</a:t>
                      </a:r>
                      <a:endParaRPr lang="en-US" sz="15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Meta Ads Manager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Steep learning curve, no lead management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Automates campaigns, centralises leads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AdEspresso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Weak AI, no onboarding personalisation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Industry-aware AI with guided onboarding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Revealbot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Post-launch optimisation only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Full lifecycle, onboarding to conversion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Jasper / Copy.ai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 Meta integration or compliance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Compliant, Meta-ready ads auto-deployed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HighLevel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Complex setup, weak AI generation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AI-first, simplified end-to-end system</a:t>
                      </a:r>
                      <a:endParaRPr lang="en-US" sz="13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02920" y="5577840"/>
            <a:ext cx="11155680" cy="749808"/>
          </a:xfrm>
          <a:prstGeom prst="roundRect">
            <a:avLst>
              <a:gd name="adj" fmla="val 7317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49808" y="5596128"/>
            <a:ext cx="10698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341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gap: nobody combines guided onboarding, compliant AI ad generation, Meta deployment and WhatsApp nurturing.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Objectives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64208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8952" y="1865376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ECFDF5"/>
          </a:solidFill>
          <a:ln/>
        </p:spPr>
      </p:sp>
      <p:sp>
        <p:nvSpPr>
          <p:cNvPr id="19" name="Text 17"/>
          <p:cNvSpPr/>
          <p:nvPr/>
        </p:nvSpPr>
        <p:spPr>
          <a:xfrm>
            <a:off x="758952" y="1865376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58952" y="228600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Guided, non-technical campaign creation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279392" y="1664208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35424" y="1865376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FFF1E7"/>
          </a:solidFill>
          <a:ln/>
        </p:spPr>
      </p:sp>
      <p:sp>
        <p:nvSpPr>
          <p:cNvPr id="23" name="Text 21"/>
          <p:cNvSpPr/>
          <p:nvPr/>
        </p:nvSpPr>
        <p:spPr>
          <a:xfrm>
            <a:off x="4535424" y="1865376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35424" y="228600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ad copy tailored to each industry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55864" y="1664208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11896" y="1865376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ECFDF5"/>
          </a:solidFill>
          <a:ln/>
        </p:spPr>
      </p:sp>
      <p:sp>
        <p:nvSpPr>
          <p:cNvPr id="27" name="Text 25"/>
          <p:cNvSpPr/>
          <p:nvPr/>
        </p:nvSpPr>
        <p:spPr>
          <a:xfrm>
            <a:off x="8311896" y="1865376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11896" y="228600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Automated deployment via Meta Graph API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02920" y="3200400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8952" y="3401568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ECFDF5"/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" y="3401568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58952" y="3822192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Integrated, encrypted lead management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279392" y="3200400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35424" y="3401568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FFF1E7"/>
          </a:solidFill>
          <a:ln/>
        </p:spPr>
      </p:sp>
      <p:sp>
        <p:nvSpPr>
          <p:cNvPr id="35" name="Text 33"/>
          <p:cNvSpPr/>
          <p:nvPr/>
        </p:nvSpPr>
        <p:spPr>
          <a:xfrm>
            <a:off x="4535424" y="3401568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BO-5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35424" y="3822192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Stripe subscriptions with free trials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055864" y="3200400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311896" y="3401568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ECFDF5"/>
          </a:solidFill>
          <a:ln/>
        </p:spPr>
      </p:sp>
      <p:sp>
        <p:nvSpPr>
          <p:cNvPr id="39" name="Text 37"/>
          <p:cNvSpPr/>
          <p:nvPr/>
        </p:nvSpPr>
        <p:spPr>
          <a:xfrm>
            <a:off x="8311896" y="3401568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311896" y="3822192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Automated performance and lead sync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502920" y="4736592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58952" y="4937760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ECFDF5"/>
          </a:solidFill>
          <a:ln/>
        </p:spPr>
      </p:sp>
      <p:sp>
        <p:nvSpPr>
          <p:cNvPr id="43" name="Text 41"/>
          <p:cNvSpPr/>
          <p:nvPr/>
        </p:nvSpPr>
        <p:spPr>
          <a:xfrm>
            <a:off x="758952" y="4937760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58952" y="5358384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Admin dashboard for users and analytics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4279392" y="4736592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535424" y="4937760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FFF1E7"/>
          </a:solidFill>
          <a:ln/>
        </p:spPr>
      </p:sp>
      <p:sp>
        <p:nvSpPr>
          <p:cNvPr id="47" name="Text 45"/>
          <p:cNvSpPr/>
          <p:nvPr/>
        </p:nvSpPr>
        <p:spPr>
          <a:xfrm>
            <a:off x="4535424" y="4937760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BO-8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535424" y="5358384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RAG-based Bradley Filter for compliance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055864" y="4736592"/>
            <a:ext cx="3520440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311896" y="4937760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ECFDF5"/>
          </a:solidFill>
          <a:ln/>
        </p:spPr>
      </p:sp>
      <p:sp>
        <p:nvSpPr>
          <p:cNvPr id="51" name="Text 49"/>
          <p:cNvSpPr/>
          <p:nvPr/>
        </p:nvSpPr>
        <p:spPr>
          <a:xfrm>
            <a:off x="8311896" y="4937760"/>
            <a:ext cx="841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BO-9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311896" y="5358384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Autonomous WhatsApp nurturing agent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Complexity of the Problem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91640"/>
            <a:ext cx="5468112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0664" y="189280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740664" y="1892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71016" y="1874520"/>
            <a:ext cx="4462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+ Bradley Filter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71016" y="22677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Retrieval grounds every ad in past campaigns and Meta policy; compliance rewrites violations.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90488" y="1691640"/>
            <a:ext cx="5468112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28232" y="189280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1892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58584" y="1874520"/>
            <a:ext cx="4462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Multi-Industry Personalisation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958584" y="22677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engine adapts tone, offer and targeting across seven very different industries.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2990088"/>
            <a:ext cx="5468112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40664" y="319125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F766E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" y="3191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71016" y="3172968"/>
            <a:ext cx="4462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Autonomous Lead Agent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71016" y="3566160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Scores intent from sentiment and behaviour, times follow-ups, escalates when a lead is ready.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90488" y="2990088"/>
            <a:ext cx="5468112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28232" y="319125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EA580C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3191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58584" y="3172968"/>
            <a:ext cx="4462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Distributed Async Processing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958584" y="3566160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Redis and BullMQ jobs must retry without duplicating Meta spend or messages.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02920" y="4288536"/>
            <a:ext cx="1115568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0664" y="44897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F766E"/>
          </a:solidFill>
          <a:ln/>
        </p:spPr>
      </p:sp>
      <p:sp>
        <p:nvSpPr>
          <p:cNvPr id="39" name="Text 37"/>
          <p:cNvSpPr/>
          <p:nvPr/>
        </p:nvSpPr>
        <p:spPr>
          <a:xfrm>
            <a:off x="740664" y="44897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271016" y="4471416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Third-Party Orchestration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71016" y="4864608"/>
            <a:ext cx="10149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Meta, Stripe, OAuth, WhatsApp and S3 stay consistent under token expiry, rate limits and out-of-order webhooks.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02920" y="5596128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ECFDF5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49808" y="5614416"/>
            <a:ext cx="10698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 it is an FYP: applied LLM engineering, vector retrieval, compliance modelling and distributed systems.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Methodology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783080"/>
            <a:ext cx="1517904" cy="306324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783080"/>
            <a:ext cx="1517904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33272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033272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7784" y="2615184"/>
            <a:ext cx="14081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Requirements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6072" y="32918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Interviews, competitor analysis, SRS.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30552" y="1783080"/>
            <a:ext cx="1517904" cy="306324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130552" y="1783080"/>
            <a:ext cx="1517904" cy="82296"/>
          </a:xfrm>
          <a:prstGeom prst="rect">
            <a:avLst/>
          </a:prstGeom>
          <a:solidFill>
            <a:srgbClr val="0A5C56"/>
          </a:solidFill>
          <a:ln/>
        </p:spPr>
      </p:sp>
      <p:sp>
        <p:nvSpPr>
          <p:cNvPr id="25" name="Shape 23"/>
          <p:cNvSpPr/>
          <p:nvPr/>
        </p:nvSpPr>
        <p:spPr>
          <a:xfrm>
            <a:off x="2660904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A5C56"/>
          </a:solidFill>
          <a:ln/>
        </p:spPr>
      </p:sp>
      <p:sp>
        <p:nvSpPr>
          <p:cNvPr id="26" name="Text 24"/>
          <p:cNvSpPr/>
          <p:nvPr/>
        </p:nvSpPr>
        <p:spPr>
          <a:xfrm>
            <a:off x="2660904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85416" y="2615184"/>
            <a:ext cx="14081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03704" y="32918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Architecture, schema, Figma prototypes.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758184" y="1783080"/>
            <a:ext cx="1517904" cy="306324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758184" y="1783080"/>
            <a:ext cx="1517904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1" name="Shape 29"/>
          <p:cNvSpPr/>
          <p:nvPr/>
        </p:nvSpPr>
        <p:spPr>
          <a:xfrm>
            <a:off x="4288536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4288536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813048" y="2615184"/>
            <a:ext cx="14081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Knowledge Base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31336" y="32918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Embed top ads and Meta policy as vectors.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85816" y="1783080"/>
            <a:ext cx="1517904" cy="306324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385816" y="1783080"/>
            <a:ext cx="1517904" cy="82296"/>
          </a:xfrm>
          <a:prstGeom prst="rect">
            <a:avLst/>
          </a:prstGeom>
          <a:solidFill>
            <a:srgbClr val="0A5C56"/>
          </a:solidFill>
          <a:ln/>
        </p:spPr>
      </p:sp>
      <p:sp>
        <p:nvSpPr>
          <p:cNvPr id="37" name="Shape 35"/>
          <p:cNvSpPr/>
          <p:nvPr/>
        </p:nvSpPr>
        <p:spPr>
          <a:xfrm>
            <a:off x="5916168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A5C56"/>
          </a:solidFill>
          <a:ln/>
        </p:spPr>
      </p:sp>
      <p:sp>
        <p:nvSpPr>
          <p:cNvPr id="38" name="Text 36"/>
          <p:cNvSpPr/>
          <p:nvPr/>
        </p:nvSpPr>
        <p:spPr>
          <a:xfrm>
            <a:off x="5916168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40680" y="2615184"/>
            <a:ext cx="14081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Layer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58968" y="32918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Prompts, RAG pipeline, Bradley Filter.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013448" y="1783080"/>
            <a:ext cx="1517904" cy="306324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013448" y="1783080"/>
            <a:ext cx="1517904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3" name="Shape 41"/>
          <p:cNvSpPr/>
          <p:nvPr/>
        </p:nvSpPr>
        <p:spPr>
          <a:xfrm>
            <a:off x="7543800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44" name="Text 42"/>
          <p:cNvSpPr/>
          <p:nvPr/>
        </p:nvSpPr>
        <p:spPr>
          <a:xfrm>
            <a:off x="7543800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68312" y="2615184"/>
            <a:ext cx="14081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086600" y="32918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Meta, Stripe, WhatsApp, S3, BullMQ.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641080" y="1783080"/>
            <a:ext cx="1517904" cy="306324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41080" y="1783080"/>
            <a:ext cx="1517904" cy="82296"/>
          </a:xfrm>
          <a:prstGeom prst="rect">
            <a:avLst/>
          </a:prstGeom>
          <a:solidFill>
            <a:srgbClr val="0A5C56"/>
          </a:solidFill>
          <a:ln/>
        </p:spPr>
      </p:sp>
      <p:sp>
        <p:nvSpPr>
          <p:cNvPr id="49" name="Shape 47"/>
          <p:cNvSpPr/>
          <p:nvPr/>
        </p:nvSpPr>
        <p:spPr>
          <a:xfrm>
            <a:off x="9171432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A5C56"/>
          </a:solidFill>
          <a:ln/>
        </p:spPr>
      </p:sp>
      <p:sp>
        <p:nvSpPr>
          <p:cNvPr id="50" name="Text 48"/>
          <p:cNvSpPr/>
          <p:nvPr/>
        </p:nvSpPr>
        <p:spPr>
          <a:xfrm>
            <a:off x="9171432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95944" y="2615184"/>
            <a:ext cx="14081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Testing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714232" y="32918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Compliance rate, latency, scoring accuracy.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0268712" y="1783080"/>
            <a:ext cx="1517904" cy="306324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0268712" y="1783080"/>
            <a:ext cx="1517904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799064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/>
        </p:spPr>
      </p:sp>
      <p:sp>
        <p:nvSpPr>
          <p:cNvPr id="56" name="Text 54"/>
          <p:cNvSpPr/>
          <p:nvPr/>
        </p:nvSpPr>
        <p:spPr>
          <a:xfrm>
            <a:off x="10799064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07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323576" y="2615184"/>
            <a:ext cx="14081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341864" y="32918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Docker on AWS, GitHub Actions CI/CD.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 rot="5400000">
            <a:off x="2002536" y="3246120"/>
            <a:ext cx="146304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3630168" y="3246120"/>
            <a:ext cx="146304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61" name="Shape 59"/>
          <p:cNvSpPr/>
          <p:nvPr/>
        </p:nvSpPr>
        <p:spPr>
          <a:xfrm rot="5400000">
            <a:off x="5257800" y="3246120"/>
            <a:ext cx="146304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885432" y="3246120"/>
            <a:ext cx="146304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63" name="Shape 61"/>
          <p:cNvSpPr/>
          <p:nvPr/>
        </p:nvSpPr>
        <p:spPr>
          <a:xfrm rot="5400000">
            <a:off x="8513064" y="3246120"/>
            <a:ext cx="146304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64" name="Shape 62"/>
          <p:cNvSpPr/>
          <p:nvPr/>
        </p:nvSpPr>
        <p:spPr>
          <a:xfrm rot="5400000">
            <a:off x="10140696" y="3246120"/>
            <a:ext cx="146304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65" name="Shape 63"/>
          <p:cNvSpPr/>
          <p:nvPr/>
        </p:nvSpPr>
        <p:spPr>
          <a:xfrm>
            <a:off x="502920" y="5102352"/>
            <a:ext cx="111556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777240" y="524865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Pipeline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777240" y="5577840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Onboarding  &gt;  Retrieval  &gt;  Generation  &gt;  Compliance  &gt;  Media  &gt;  Meta Deployment  &gt;  Leads  &gt;  WhatsApp Agent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System Modules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64208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64208"/>
            <a:ext cx="73152" cy="7680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" y="1755648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01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344168" y="1737360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Onboarding &amp; Brand Setup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44168" y="2048256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Wizard, brand tone, industry, AI tips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1664208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90488" y="1664208"/>
            <a:ext cx="73152" cy="7680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318504" y="1755648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031736" y="1737360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Advertisement &amp; Content Generation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31736" y="2048256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 copy, templates, RAG, policy checks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2523744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02920" y="2523744"/>
            <a:ext cx="73152" cy="7680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" y="2615184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344168" y="2596896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Media Editing &amp; Creative Automation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44168" y="2907792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Video edits, captions, resizing, branding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90488" y="2523744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90488" y="2523744"/>
            <a:ext cx="73152" cy="7680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2615184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7031736" y="2596896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Campaign Automation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31736" y="2907792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OAuth, campaign creation, targeting, control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02920" y="3383280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02920" y="3383280"/>
            <a:ext cx="73152" cy="7680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9" name="Text 37"/>
          <p:cNvSpPr/>
          <p:nvPr/>
        </p:nvSpPr>
        <p:spPr>
          <a:xfrm>
            <a:off x="630936" y="3474720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344168" y="3456432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 Management System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4168" y="3767328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 sync, encryption, filters, analytics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190488" y="3383280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190488" y="3383280"/>
            <a:ext cx="73152" cy="7680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4" name="Text 42"/>
          <p:cNvSpPr/>
          <p:nvPr/>
        </p:nvSpPr>
        <p:spPr>
          <a:xfrm>
            <a:off x="6318504" y="3474720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7031736" y="3456432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WhatsApp Lead Nurturing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031736" y="3767328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Follow-ups, intent scoring, escalation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02920" y="4242816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02920" y="4242816"/>
            <a:ext cx="73152" cy="7680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9" name="Text 47"/>
          <p:cNvSpPr/>
          <p:nvPr/>
        </p:nvSpPr>
        <p:spPr>
          <a:xfrm>
            <a:off x="630936" y="4334256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07</a:t>
            </a:r>
            <a:endParaRPr lang="en-US" sz="2100" dirty="0"/>
          </a:p>
        </p:txBody>
      </p:sp>
      <p:sp>
        <p:nvSpPr>
          <p:cNvPr id="50" name="Text 48"/>
          <p:cNvSpPr/>
          <p:nvPr/>
        </p:nvSpPr>
        <p:spPr>
          <a:xfrm>
            <a:off x="1344168" y="4315968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Subscription &amp; Billing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44168" y="4626864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Stripe checkout, trials, webhooks, gating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190488" y="4242816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190488" y="4242816"/>
            <a:ext cx="73152" cy="7680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4" name="Text 52"/>
          <p:cNvSpPr/>
          <p:nvPr/>
        </p:nvSpPr>
        <p:spPr>
          <a:xfrm>
            <a:off x="6318504" y="4334256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08</a:t>
            </a:r>
            <a:endParaRPr lang="en-US" sz="2100" dirty="0"/>
          </a:p>
        </p:txBody>
      </p:sp>
      <p:sp>
        <p:nvSpPr>
          <p:cNvPr id="55" name="Text 53"/>
          <p:cNvSpPr/>
          <p:nvPr/>
        </p:nvSpPr>
        <p:spPr>
          <a:xfrm>
            <a:off x="7031736" y="4315968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Admin Dashboard &amp; Operations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031736" y="4626864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Users, analytics, API health, queues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502920" y="5102352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02920" y="5102352"/>
            <a:ext cx="73152" cy="7680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9" name="Text 57"/>
          <p:cNvSpPr/>
          <p:nvPr/>
        </p:nvSpPr>
        <p:spPr>
          <a:xfrm>
            <a:off x="630936" y="5193792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09</a:t>
            </a:r>
            <a:endParaRPr lang="en-US" sz="2100" dirty="0"/>
          </a:p>
        </p:txBody>
      </p:sp>
      <p:sp>
        <p:nvSpPr>
          <p:cNvPr id="60" name="Text 58"/>
          <p:cNvSpPr/>
          <p:nvPr/>
        </p:nvSpPr>
        <p:spPr>
          <a:xfrm>
            <a:off x="1344168" y="5175504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Marketing Website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1344168" y="5486400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Landing pages, diagnostics, SEO blog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190488" y="5102352"/>
            <a:ext cx="546811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6190488" y="5102352"/>
            <a:ext cx="73152" cy="7680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64" name="Text 62"/>
          <p:cNvSpPr/>
          <p:nvPr/>
        </p:nvSpPr>
        <p:spPr>
          <a:xfrm>
            <a:off x="6318504" y="5193792"/>
            <a:ext cx="6583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2100" dirty="0"/>
          </a:p>
        </p:txBody>
      </p:sp>
      <p:sp>
        <p:nvSpPr>
          <p:cNvPr id="65" name="Text 63"/>
          <p:cNvSpPr/>
          <p:nvPr/>
        </p:nvSpPr>
        <p:spPr>
          <a:xfrm>
            <a:off x="7031736" y="5175504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Authentication &amp; User Management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7031736" y="5486400"/>
            <a:ext cx="4526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Email, Google OAuth, JWT, role access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502920" y="5989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 division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6217920" y="6071616"/>
            <a:ext cx="164592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9" name="Text 67"/>
          <p:cNvSpPr/>
          <p:nvPr/>
        </p:nvSpPr>
        <p:spPr>
          <a:xfrm>
            <a:off x="6446520" y="59893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Majid Farooq Qureshi (045)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9326880" y="6071616"/>
            <a:ext cx="164592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71" name="Text 69"/>
          <p:cNvSpPr/>
          <p:nvPr/>
        </p:nvSpPr>
        <p:spPr>
          <a:xfrm>
            <a:off x="9555480" y="598932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Habib Ur Rehman (116)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07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Tools &amp; Technologies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64208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64208"/>
            <a:ext cx="352044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758952" y="19019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Backend &amp; Data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95528" y="2359152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Node.js 18 + Express 4.18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MongoDB 6.x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Redis 7.x + BullMQ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79392" y="1664208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79392" y="1664208"/>
            <a:ext cx="352044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4535424" y="19019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&amp; Intelligence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572000" y="2359152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LLM APIs for ad copy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Vector embeddings (RAG)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Bradley Filter pipeline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55864" y="1664208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55864" y="1664208"/>
            <a:ext cx="352044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8311896" y="19019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Frontend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348472" y="2359152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Next.js 15 App Router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React 19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Tailwind CSS 4.x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02920" y="3877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3877056"/>
            <a:ext cx="352044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" y="41148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Integrations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95528" y="457200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Graph API v18+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Stripe billing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Google OAuth + AWS S3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279392" y="3877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279392" y="3877056"/>
            <a:ext cx="352044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5" name="Text 33"/>
          <p:cNvSpPr/>
          <p:nvPr/>
        </p:nvSpPr>
        <p:spPr>
          <a:xfrm>
            <a:off x="4535424" y="41148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DevOps &amp; Cloud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4572000" y="457200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Docker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AWS EC2 + S3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 Actions CI/CD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055864" y="3877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55864" y="3877056"/>
            <a:ext cx="352044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8311896" y="41148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Tooling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348472" y="457200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VS Code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Figma</a:t>
            </a:r>
            <a:endParaRPr lang="en-US" sz="1400" dirty="0"/>
          </a:p>
          <a:p>
            <a:pPr marL="177800" indent="-177800">
              <a:lnSpc>
                <a:spcPts val="2600"/>
              </a:lnSpc>
              <a:buSzPct val="100000"/>
              <a:buChar char="▪"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Postman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08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Outcomes &amp; Relevance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08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64208"/>
            <a:ext cx="5486400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64208"/>
            <a:ext cx="548640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186537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Deliverables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41248" y="2377440"/>
            <a:ext cx="4892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7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Multi-tenant SaaS platform on AWS</a:t>
            </a:r>
            <a:endParaRPr lang="en-US" sz="1450" dirty="0"/>
          </a:p>
          <a:p>
            <a:pPr marL="177800" indent="-177800">
              <a:lnSpc>
                <a:spcPts val="27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ad engine with RAG and compliance</a:t>
            </a:r>
            <a:endParaRPr lang="en-US" sz="1450" dirty="0"/>
          </a:p>
          <a:p>
            <a:pPr marL="177800" indent="-177800">
              <a:lnSpc>
                <a:spcPts val="27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Graph API automation engine</a:t>
            </a:r>
            <a:endParaRPr lang="en-US" sz="1450" dirty="0"/>
          </a:p>
          <a:p>
            <a:pPr marL="177800" indent="-177800">
              <a:lnSpc>
                <a:spcPts val="27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Encrypted leads with conversion analytics</a:t>
            </a:r>
            <a:endParaRPr lang="en-US" sz="1450" dirty="0"/>
          </a:p>
          <a:p>
            <a:pPr marL="177800" indent="-177800">
              <a:lnSpc>
                <a:spcPts val="27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WhatsApp agent with lead scoring</a:t>
            </a:r>
            <a:endParaRPr lang="en-US" sz="1450" dirty="0"/>
          </a:p>
          <a:p>
            <a:pPr marL="177800" indent="-177800">
              <a:lnSpc>
                <a:spcPts val="27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Admin console and marketing site</a:t>
            </a:r>
            <a:endParaRPr lang="en-US" sz="1450" dirty="0"/>
          </a:p>
          <a:p>
            <a:pPr marL="177800" indent="-177800">
              <a:lnSpc>
                <a:spcPts val="27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SRS, design docs, test reports, report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172200" y="1664208"/>
            <a:ext cx="5486400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72200" y="1664208"/>
            <a:ext cx="548640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473952" y="186537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Relevance &amp; Impact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6473952" y="2395728"/>
            <a:ext cx="54864" cy="10789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0" y="239572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75120" y="2743200"/>
            <a:ext cx="4754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SMEs run agency-grade campaigns without agency cost, in minutes instead of days.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73952" y="3657600"/>
            <a:ext cx="54864" cy="10789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0" y="365760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Academic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75120" y="4005072"/>
            <a:ext cx="4754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Applies Software Engineering, Databases, Web, Networks, Cloud, AI and Distributed Systems.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73952" y="4919472"/>
            <a:ext cx="54864" cy="10789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0" y="491947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Technical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75120" y="5266944"/>
            <a:ext cx="4754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advertising layer, RAG content enhancement and an autonomous lead agent.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09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Conclusion &amp; Future Work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FYP Proposal 2025-26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09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64208"/>
            <a:ext cx="11155680" cy="1188720"/>
          </a:xfrm>
          <a:prstGeom prst="roundRect">
            <a:avLst>
              <a:gd name="adj" fmla="val 4615"/>
            </a:avLst>
          </a:prstGeom>
          <a:solidFill>
            <a:srgbClr val="042F2E"/>
          </a:solidFill>
          <a:ln w="12700">
            <a:solidFill>
              <a:srgbClr val="042F2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64208"/>
            <a:ext cx="9144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1737360"/>
            <a:ext cx="106070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removes the expertise barrier from Meta advertising - AI ad generation, compliance, deployment and lead nurturing in one workflow.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02920" y="3063240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Constraints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02920" y="3474720"/>
            <a:ext cx="548640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3694176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only - no Google or TikTok Ads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ad approval rests with Meta's review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Targeting depends on third-party geocoding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A/B testing or budget optimisation yet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OAuth tokens need periodic reconnection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172200" y="3063240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72200" y="3474720"/>
            <a:ext cx="548640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3694176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 to Google, TikTok and LinkedIn Ads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Automated A/B testing and budget optimisation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Fine-tune a model on performance data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Nurturing via Instagram DM, email and voice</a:t>
            </a:r>
            <a:endParaRPr lang="en-US" sz="1450" dirty="0"/>
          </a:p>
          <a:p>
            <a:pPr marL="177800" indent="-177800">
              <a:lnSpc>
                <a:spcPts val="2800"/>
              </a:lnSpc>
              <a:buSzPct val="100000"/>
              <a:buChar char="▪"/>
            </a:pPr>
            <a:r>
              <a:rPr lang="en-US" sz="14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Multilingual ads and regional compliance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2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931920"/>
            <a:ext cx="5486400" cy="548640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3" name="Shape 1"/>
          <p:cNvSpPr/>
          <p:nvPr/>
        </p:nvSpPr>
        <p:spPr>
          <a:xfrm>
            <a:off x="9079992" y="-2011680"/>
            <a:ext cx="5486400" cy="548640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Shape 3"/>
          <p:cNvSpPr/>
          <p:nvPr/>
        </p:nvSpPr>
        <p:spPr>
          <a:xfrm>
            <a:off x="5637276" y="178308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0F766E"/>
          </a:solidFill>
          <a:ln/>
        </p:spPr>
      </p:sp>
      <p:sp>
        <p:nvSpPr>
          <p:cNvPr id="6" name="Shape 4"/>
          <p:cNvSpPr/>
          <p:nvPr/>
        </p:nvSpPr>
        <p:spPr>
          <a:xfrm>
            <a:off x="5808726" y="2268855"/>
            <a:ext cx="78581" cy="17145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7" name="Shape 5"/>
          <p:cNvSpPr/>
          <p:nvPr/>
        </p:nvSpPr>
        <p:spPr>
          <a:xfrm>
            <a:off x="5937314" y="2154555"/>
            <a:ext cx="78581" cy="28575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Shape 6"/>
          <p:cNvSpPr/>
          <p:nvPr/>
        </p:nvSpPr>
        <p:spPr>
          <a:xfrm>
            <a:off x="6065901" y="2040255"/>
            <a:ext cx="78581" cy="40005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6194489" y="1925955"/>
            <a:ext cx="78581" cy="51435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0" y="28803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11" name="Shape 9"/>
          <p:cNvSpPr/>
          <p:nvPr/>
        </p:nvSpPr>
        <p:spPr>
          <a:xfrm>
            <a:off x="5362956" y="3822192"/>
            <a:ext cx="1463040" cy="7315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0" y="4023360"/>
            <a:ext cx="12188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3E6E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0" y="498348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C9C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Majid Farooq Qureshi (FA23-BCS-045)     |     Habib Ur Rehman (FA23-BCS-116)</a:t>
            </a:r>
            <a:endParaRPr lang="en-US" sz="14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C9C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Supervisor: Ms. Saadia Maqbool     |     COMSATS University Islamabad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Campaignly.AI - Final Year Project Proposal</dc:title>
  <dc:subject>PptxGenJS Presentation</dc:subject>
  <dc:creator>Majid Farooq Qureshi &amp; Habib Ur Rehman</dc:creator>
  <cp:lastModifiedBy>Majid Farooq Qureshi &amp; Habib Ur Rehman</cp:lastModifiedBy>
  <cp:revision>1</cp:revision>
  <dcterms:created xsi:type="dcterms:W3CDTF">2026-09-19T03:37:58Z</dcterms:created>
  <dcterms:modified xsi:type="dcterms:W3CDTF">2026-09-19T03:37:58Z</dcterms:modified>
</cp:coreProperties>
</file>